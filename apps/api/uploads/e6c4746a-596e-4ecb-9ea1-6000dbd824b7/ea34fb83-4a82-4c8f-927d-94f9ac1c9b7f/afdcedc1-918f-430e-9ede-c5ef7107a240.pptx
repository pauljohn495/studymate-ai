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9" r:id="rId4"/>
    <p:sldId id="260" r:id="rId5"/>
    <p:sldId id="261" r:id="rId6"/>
    <p:sldId id="262" r:id="rId7"/>
    <p:sldId id="263" r:id="rId8"/>
    <p:sldId id="265" r:id="rId9"/>
    <p:sldId id="266" r:id="rId10"/>
    <p:sldId id="267" r:id="rId11"/>
    <p:sldId id="264" r:id="rId12"/>
    <p:sldId id="268" r:id="rId13"/>
    <p:sldId id="271" r:id="rId14"/>
    <p:sldId id="269" r:id="rId15"/>
    <p:sldId id="272" r:id="rId16"/>
    <p:sldId id="273" r:id="rId17"/>
    <p:sldId id="274" r:id="rId18"/>
    <p:sldId id="275" r:id="rId19"/>
    <p:sldId id="276" r:id="rId20"/>
    <p:sldId id="277" r:id="rId21"/>
    <p:sldId id="278" r:id="rId22"/>
    <p:sldId id="279" r:id="rId23"/>
    <p:sldId id="280" r:id="rId24"/>
    <p:sldId id="281" r:id="rId25"/>
  </p:sldIdLst>
  <p:sldSz cx="9144000" cy="6858000" type="screen4x3"/>
  <p:notesSz cx="6858000" cy="9144000"/>
  <p:defaultTextStyle>
    <a:defPPr>
      <a:defRPr lang="en-US"/>
    </a:defPPr>
    <a:lvl1pPr algn="l" rtl="0" eaLnBrk="0" fontAlgn="base" hangingPunct="0">
      <a:spcBef>
        <a:spcPct val="0"/>
      </a:spcBef>
      <a:spcAft>
        <a:spcPct val="0"/>
      </a:spcAft>
      <a:defRPr kern="1200">
        <a:solidFill>
          <a:schemeClr val="tx1"/>
        </a:solidFill>
        <a:latin typeface="Arial" charset="0"/>
        <a:ea typeface="+mn-ea"/>
        <a:cs typeface="+mn-cs"/>
      </a:defRPr>
    </a:lvl1pPr>
    <a:lvl2pPr marL="457200" algn="l" rtl="0" eaLnBrk="0" fontAlgn="base" hangingPunct="0">
      <a:spcBef>
        <a:spcPct val="0"/>
      </a:spcBef>
      <a:spcAft>
        <a:spcPct val="0"/>
      </a:spcAft>
      <a:defRPr kern="1200">
        <a:solidFill>
          <a:schemeClr val="tx1"/>
        </a:solidFill>
        <a:latin typeface="Arial" charset="0"/>
        <a:ea typeface="+mn-ea"/>
        <a:cs typeface="+mn-cs"/>
      </a:defRPr>
    </a:lvl2pPr>
    <a:lvl3pPr marL="914400" algn="l" rtl="0" eaLnBrk="0" fontAlgn="base" hangingPunct="0">
      <a:spcBef>
        <a:spcPct val="0"/>
      </a:spcBef>
      <a:spcAft>
        <a:spcPct val="0"/>
      </a:spcAft>
      <a:defRPr kern="1200">
        <a:solidFill>
          <a:schemeClr val="tx1"/>
        </a:solidFill>
        <a:latin typeface="Arial" charset="0"/>
        <a:ea typeface="+mn-ea"/>
        <a:cs typeface="+mn-cs"/>
      </a:defRPr>
    </a:lvl3pPr>
    <a:lvl4pPr marL="1371600" algn="l" rtl="0" eaLnBrk="0" fontAlgn="base" hangingPunct="0">
      <a:spcBef>
        <a:spcPct val="0"/>
      </a:spcBef>
      <a:spcAft>
        <a:spcPct val="0"/>
      </a:spcAft>
      <a:defRPr kern="1200">
        <a:solidFill>
          <a:schemeClr val="tx1"/>
        </a:solidFill>
        <a:latin typeface="Arial" charset="0"/>
        <a:ea typeface="+mn-ea"/>
        <a:cs typeface="+mn-cs"/>
      </a:defRPr>
    </a:lvl4pPr>
    <a:lvl5pPr marL="1828800" algn="l" rtl="0" eaLnBrk="0" fontAlgn="base" hangingPunct="0">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3300"/>
    <a:srgbClr val="0099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209" autoAdjust="0"/>
    <p:restoredTop sz="94660"/>
  </p:normalViewPr>
  <p:slideViewPr>
    <p:cSldViewPr>
      <p:cViewPr varScale="1">
        <p:scale>
          <a:sx n="62" d="100"/>
          <a:sy n="62" d="100"/>
        </p:scale>
        <p:origin x="1416" y="5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p:spPr>
        <p:txBody>
          <a:bodyPr anchor="b"/>
          <a:lstStyle>
            <a:lvl1pPr algn="ctr">
              <a:defRPr sz="6000"/>
            </a:lvl1pPr>
          </a:lstStyle>
          <a:p>
            <a:r>
              <a:rPr lang="en-US"/>
              <a:t>Click to edit Master title style</a:t>
            </a:r>
            <a:endParaRPr lang="en-PH"/>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PH"/>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en-US"/>
          </a:p>
        </p:txBody>
      </p:sp>
      <p:sp>
        <p:nvSpPr>
          <p:cNvPr id="6" name="Rectangle 6"/>
          <p:cNvSpPr>
            <a:spLocks noGrp="1" noChangeArrowheads="1"/>
          </p:cNvSpPr>
          <p:nvPr>
            <p:ph type="sldNum" sz="quarter" idx="12"/>
          </p:nvPr>
        </p:nvSpPr>
        <p:spPr>
          <a:ln/>
        </p:spPr>
        <p:txBody>
          <a:bodyPr/>
          <a:lstStyle>
            <a:lvl1pPr>
              <a:defRPr/>
            </a:lvl1pPr>
          </a:lstStyle>
          <a:p>
            <a:fld id="{0F21438F-4632-4B0A-974E-D98796F5030B}" type="slidenum">
              <a:rPr lang="en-US" altLang="en-US"/>
              <a:pPr/>
              <a:t>‹#›</a:t>
            </a:fld>
            <a:endParaRPr lang="en-US" altLang="en-US"/>
          </a:p>
        </p:txBody>
      </p:sp>
    </p:spTree>
    <p:extLst>
      <p:ext uri="{BB962C8B-B14F-4D97-AF65-F5344CB8AC3E}">
        <p14:creationId xmlns:p14="http://schemas.microsoft.com/office/powerpoint/2010/main" val="3508240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PH"/>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en-US"/>
          </a:p>
        </p:txBody>
      </p:sp>
      <p:sp>
        <p:nvSpPr>
          <p:cNvPr id="6" name="Rectangle 6"/>
          <p:cNvSpPr>
            <a:spLocks noGrp="1" noChangeArrowheads="1"/>
          </p:cNvSpPr>
          <p:nvPr>
            <p:ph type="sldNum" sz="quarter" idx="12"/>
          </p:nvPr>
        </p:nvSpPr>
        <p:spPr>
          <a:ln/>
        </p:spPr>
        <p:txBody>
          <a:bodyPr/>
          <a:lstStyle>
            <a:lvl1pPr>
              <a:defRPr/>
            </a:lvl1pPr>
          </a:lstStyle>
          <a:p>
            <a:fld id="{38355A70-06D9-4696-B362-28A14E06A668}" type="slidenum">
              <a:rPr lang="en-US" altLang="en-US"/>
              <a:pPr/>
              <a:t>‹#›</a:t>
            </a:fld>
            <a:endParaRPr lang="en-US" altLang="en-US"/>
          </a:p>
        </p:txBody>
      </p:sp>
    </p:spTree>
    <p:extLst>
      <p:ext uri="{BB962C8B-B14F-4D97-AF65-F5344CB8AC3E}">
        <p14:creationId xmlns:p14="http://schemas.microsoft.com/office/powerpoint/2010/main" val="18655382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8"/>
            <a:ext cx="7886700" cy="2852737"/>
          </a:xfrm>
        </p:spPr>
        <p:txBody>
          <a:bodyPr anchor="b"/>
          <a:lstStyle>
            <a:lvl1pPr>
              <a:defRPr sz="6000"/>
            </a:lvl1pPr>
          </a:lstStyle>
          <a:p>
            <a:r>
              <a:rPr lang="en-US"/>
              <a:t>Click to edit Master title style</a:t>
            </a:r>
            <a:endParaRPr lang="en-PH"/>
          </a:p>
        </p:txBody>
      </p:sp>
      <p:sp>
        <p:nvSpPr>
          <p:cNvPr id="3" name="Text Placeholder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en-US"/>
          </a:p>
        </p:txBody>
      </p:sp>
      <p:sp>
        <p:nvSpPr>
          <p:cNvPr id="6" name="Rectangle 6"/>
          <p:cNvSpPr>
            <a:spLocks noGrp="1" noChangeArrowheads="1"/>
          </p:cNvSpPr>
          <p:nvPr>
            <p:ph type="sldNum" sz="quarter" idx="12"/>
          </p:nvPr>
        </p:nvSpPr>
        <p:spPr>
          <a:ln/>
        </p:spPr>
        <p:txBody>
          <a:bodyPr/>
          <a:lstStyle>
            <a:lvl1pPr>
              <a:defRPr/>
            </a:lvl1pPr>
          </a:lstStyle>
          <a:p>
            <a:fld id="{E1F5A308-F339-4A34-AE55-4AFBA5484429}" type="slidenum">
              <a:rPr lang="en-US" altLang="en-US"/>
              <a:pPr/>
              <a:t>‹#›</a:t>
            </a:fld>
            <a:endParaRPr lang="en-US" altLang="en-US"/>
          </a:p>
        </p:txBody>
      </p:sp>
    </p:spTree>
    <p:extLst>
      <p:ext uri="{BB962C8B-B14F-4D97-AF65-F5344CB8AC3E}">
        <p14:creationId xmlns:p14="http://schemas.microsoft.com/office/powerpoint/2010/main" val="21964688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PH"/>
          </a:p>
        </p:txBody>
      </p:sp>
      <p:sp>
        <p:nvSpPr>
          <p:cNvPr id="3" name="Content Placeholder 2"/>
          <p:cNvSpPr>
            <a:spLocks noGrp="1"/>
          </p:cNvSpPr>
          <p:nvPr>
            <p:ph sz="half" idx="1"/>
          </p:nvPr>
        </p:nvSpPr>
        <p:spPr>
          <a:xfrm>
            <a:off x="457200" y="1600200"/>
            <a:ext cx="40386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Content Placeholder 3"/>
          <p:cNvSpPr>
            <a:spLocks noGrp="1"/>
          </p:cNvSpPr>
          <p:nvPr>
            <p:ph sz="half" idx="2"/>
          </p:nvPr>
        </p:nvSpPr>
        <p:spPr>
          <a:xfrm>
            <a:off x="4648200" y="1600200"/>
            <a:ext cx="40386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en-US"/>
          </a:p>
        </p:txBody>
      </p:sp>
      <p:sp>
        <p:nvSpPr>
          <p:cNvPr id="7" name="Rectangle 6"/>
          <p:cNvSpPr>
            <a:spLocks noGrp="1" noChangeArrowheads="1"/>
          </p:cNvSpPr>
          <p:nvPr>
            <p:ph type="sldNum" sz="quarter" idx="12"/>
          </p:nvPr>
        </p:nvSpPr>
        <p:spPr>
          <a:ln/>
        </p:spPr>
        <p:txBody>
          <a:bodyPr/>
          <a:lstStyle>
            <a:lvl1pPr>
              <a:defRPr/>
            </a:lvl1pPr>
          </a:lstStyle>
          <a:p>
            <a:fld id="{8A2DC761-3101-431D-A0A8-F539F80F26F0}" type="slidenum">
              <a:rPr lang="en-US" altLang="en-US"/>
              <a:pPr/>
              <a:t>‹#›</a:t>
            </a:fld>
            <a:endParaRPr lang="en-US" altLang="en-US"/>
          </a:p>
        </p:txBody>
      </p:sp>
    </p:spTree>
    <p:extLst>
      <p:ext uri="{BB962C8B-B14F-4D97-AF65-F5344CB8AC3E}">
        <p14:creationId xmlns:p14="http://schemas.microsoft.com/office/powerpoint/2010/main" val="551079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30238" y="365125"/>
            <a:ext cx="7886700" cy="1325563"/>
          </a:xfrm>
        </p:spPr>
        <p:txBody>
          <a:bodyPr/>
          <a:lstStyle/>
          <a:p>
            <a:r>
              <a:rPr lang="en-US"/>
              <a:t>Click to edit Master title style</a:t>
            </a:r>
            <a:endParaRPr lang="en-PH"/>
          </a:p>
        </p:txBody>
      </p:sp>
      <p:sp>
        <p:nvSpPr>
          <p:cNvPr id="3" name="Text Placeholder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30238" y="2505075"/>
            <a:ext cx="386873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5" name="Text Placeholder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7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7" name="Rectangle 4"/>
          <p:cNvSpPr>
            <a:spLocks noGrp="1" noChangeArrowheads="1"/>
          </p:cNvSpPr>
          <p:nvPr>
            <p:ph type="dt" sz="half" idx="10"/>
          </p:nvPr>
        </p:nvSpPr>
        <p:spPr>
          <a:ln/>
        </p:spPr>
        <p:txBody>
          <a:bodyPr/>
          <a:lstStyle>
            <a:lvl1pPr>
              <a:defRPr/>
            </a:lvl1pPr>
          </a:lstStyle>
          <a:p>
            <a:pPr>
              <a:defRPr/>
            </a:pPr>
            <a:endParaRPr lang="en-US" altLang="en-US"/>
          </a:p>
        </p:txBody>
      </p:sp>
      <p:sp>
        <p:nvSpPr>
          <p:cNvPr id="8" name="Rectangle 5"/>
          <p:cNvSpPr>
            <a:spLocks noGrp="1" noChangeArrowheads="1"/>
          </p:cNvSpPr>
          <p:nvPr>
            <p:ph type="ftr" sz="quarter" idx="11"/>
          </p:nvPr>
        </p:nvSpPr>
        <p:spPr>
          <a:ln/>
        </p:spPr>
        <p:txBody>
          <a:bodyPr/>
          <a:lstStyle>
            <a:lvl1pPr>
              <a:defRPr/>
            </a:lvl1pPr>
          </a:lstStyle>
          <a:p>
            <a:pPr>
              <a:defRPr/>
            </a:pPr>
            <a:endParaRPr lang="en-US" altLang="en-US"/>
          </a:p>
        </p:txBody>
      </p:sp>
      <p:sp>
        <p:nvSpPr>
          <p:cNvPr id="9" name="Rectangle 6"/>
          <p:cNvSpPr>
            <a:spLocks noGrp="1" noChangeArrowheads="1"/>
          </p:cNvSpPr>
          <p:nvPr>
            <p:ph type="sldNum" sz="quarter" idx="12"/>
          </p:nvPr>
        </p:nvSpPr>
        <p:spPr>
          <a:ln/>
        </p:spPr>
        <p:txBody>
          <a:bodyPr/>
          <a:lstStyle>
            <a:lvl1pPr>
              <a:defRPr/>
            </a:lvl1pPr>
          </a:lstStyle>
          <a:p>
            <a:fld id="{313FC29A-0B92-4560-8465-70204005530C}" type="slidenum">
              <a:rPr lang="en-US" altLang="en-US"/>
              <a:pPr/>
              <a:t>‹#›</a:t>
            </a:fld>
            <a:endParaRPr lang="en-US" altLang="en-US"/>
          </a:p>
        </p:txBody>
      </p:sp>
    </p:spTree>
    <p:extLst>
      <p:ext uri="{BB962C8B-B14F-4D97-AF65-F5344CB8AC3E}">
        <p14:creationId xmlns:p14="http://schemas.microsoft.com/office/powerpoint/2010/main" val="34877327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PH"/>
          </a:p>
        </p:txBody>
      </p:sp>
      <p:sp>
        <p:nvSpPr>
          <p:cNvPr id="3" name="Rectangle 4"/>
          <p:cNvSpPr>
            <a:spLocks noGrp="1" noChangeArrowheads="1"/>
          </p:cNvSpPr>
          <p:nvPr>
            <p:ph type="dt" sz="half" idx="10"/>
          </p:nvPr>
        </p:nvSpPr>
        <p:spPr>
          <a:ln/>
        </p:spPr>
        <p:txBody>
          <a:bodyPr/>
          <a:lstStyle>
            <a:lvl1pPr>
              <a:defRPr/>
            </a:lvl1pPr>
          </a:lstStyle>
          <a:p>
            <a:pPr>
              <a:defRPr/>
            </a:pPr>
            <a:endParaRPr lang="en-US" altLang="en-US"/>
          </a:p>
        </p:txBody>
      </p:sp>
      <p:sp>
        <p:nvSpPr>
          <p:cNvPr id="4" name="Rectangle 5"/>
          <p:cNvSpPr>
            <a:spLocks noGrp="1" noChangeArrowheads="1"/>
          </p:cNvSpPr>
          <p:nvPr>
            <p:ph type="ftr" sz="quarter" idx="11"/>
          </p:nvPr>
        </p:nvSpPr>
        <p:spPr>
          <a:ln/>
        </p:spPr>
        <p:txBody>
          <a:bodyPr/>
          <a:lstStyle>
            <a:lvl1pPr>
              <a:defRPr/>
            </a:lvl1pPr>
          </a:lstStyle>
          <a:p>
            <a:pPr>
              <a:defRPr/>
            </a:pPr>
            <a:endParaRPr lang="en-US" altLang="en-US"/>
          </a:p>
        </p:txBody>
      </p:sp>
      <p:sp>
        <p:nvSpPr>
          <p:cNvPr id="5" name="Rectangle 6"/>
          <p:cNvSpPr>
            <a:spLocks noGrp="1" noChangeArrowheads="1"/>
          </p:cNvSpPr>
          <p:nvPr>
            <p:ph type="sldNum" sz="quarter" idx="12"/>
          </p:nvPr>
        </p:nvSpPr>
        <p:spPr>
          <a:ln/>
        </p:spPr>
        <p:txBody>
          <a:bodyPr/>
          <a:lstStyle>
            <a:lvl1pPr>
              <a:defRPr/>
            </a:lvl1pPr>
          </a:lstStyle>
          <a:p>
            <a:fld id="{817C9B0B-D509-4BE7-BEFE-DD09441DB990}" type="slidenum">
              <a:rPr lang="en-US" altLang="en-US"/>
              <a:pPr/>
              <a:t>‹#›</a:t>
            </a:fld>
            <a:endParaRPr lang="en-US" altLang="en-US"/>
          </a:p>
        </p:txBody>
      </p:sp>
    </p:spTree>
    <p:extLst>
      <p:ext uri="{BB962C8B-B14F-4D97-AF65-F5344CB8AC3E}">
        <p14:creationId xmlns:p14="http://schemas.microsoft.com/office/powerpoint/2010/main" val="32865396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ltLang="en-US"/>
          </a:p>
        </p:txBody>
      </p:sp>
      <p:sp>
        <p:nvSpPr>
          <p:cNvPr id="3" name="Rectangle 5"/>
          <p:cNvSpPr>
            <a:spLocks noGrp="1" noChangeArrowheads="1"/>
          </p:cNvSpPr>
          <p:nvPr>
            <p:ph type="ftr" sz="quarter" idx="11"/>
          </p:nvPr>
        </p:nvSpPr>
        <p:spPr>
          <a:ln/>
        </p:spPr>
        <p:txBody>
          <a:bodyPr/>
          <a:lstStyle>
            <a:lvl1pPr>
              <a:defRPr/>
            </a:lvl1pPr>
          </a:lstStyle>
          <a:p>
            <a:pPr>
              <a:defRPr/>
            </a:pPr>
            <a:endParaRPr lang="en-US" altLang="en-US"/>
          </a:p>
        </p:txBody>
      </p:sp>
      <p:sp>
        <p:nvSpPr>
          <p:cNvPr id="4" name="Rectangle 6"/>
          <p:cNvSpPr>
            <a:spLocks noGrp="1" noChangeArrowheads="1"/>
          </p:cNvSpPr>
          <p:nvPr>
            <p:ph type="sldNum" sz="quarter" idx="12"/>
          </p:nvPr>
        </p:nvSpPr>
        <p:spPr>
          <a:ln/>
        </p:spPr>
        <p:txBody>
          <a:bodyPr/>
          <a:lstStyle>
            <a:lvl1pPr>
              <a:defRPr/>
            </a:lvl1pPr>
          </a:lstStyle>
          <a:p>
            <a:fld id="{A0156053-5EDE-4710-B9C9-E5602954653A}" type="slidenum">
              <a:rPr lang="en-US" altLang="en-US"/>
              <a:pPr/>
              <a:t>‹#›</a:t>
            </a:fld>
            <a:endParaRPr lang="en-US" altLang="en-US"/>
          </a:p>
        </p:txBody>
      </p:sp>
    </p:spTree>
    <p:extLst>
      <p:ext uri="{BB962C8B-B14F-4D97-AF65-F5344CB8AC3E}">
        <p14:creationId xmlns:p14="http://schemas.microsoft.com/office/powerpoint/2010/main" val="12257068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endParaRPr lang="en-PH"/>
          </a:p>
        </p:txBody>
      </p:sp>
      <p:sp>
        <p:nvSpPr>
          <p:cNvPr id="3" name="Content Placeholder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en-US"/>
          </a:p>
        </p:txBody>
      </p:sp>
      <p:sp>
        <p:nvSpPr>
          <p:cNvPr id="7" name="Rectangle 6"/>
          <p:cNvSpPr>
            <a:spLocks noGrp="1" noChangeArrowheads="1"/>
          </p:cNvSpPr>
          <p:nvPr>
            <p:ph type="sldNum" sz="quarter" idx="12"/>
          </p:nvPr>
        </p:nvSpPr>
        <p:spPr>
          <a:ln/>
        </p:spPr>
        <p:txBody>
          <a:bodyPr/>
          <a:lstStyle>
            <a:lvl1pPr>
              <a:defRPr/>
            </a:lvl1pPr>
          </a:lstStyle>
          <a:p>
            <a:fld id="{C512BE2F-F071-4314-BCFD-999F52F0DC68}" type="slidenum">
              <a:rPr lang="en-US" altLang="en-US"/>
              <a:pPr/>
              <a:t>‹#›</a:t>
            </a:fld>
            <a:endParaRPr lang="en-US" altLang="en-US"/>
          </a:p>
        </p:txBody>
      </p:sp>
    </p:spTree>
    <p:extLst>
      <p:ext uri="{BB962C8B-B14F-4D97-AF65-F5344CB8AC3E}">
        <p14:creationId xmlns:p14="http://schemas.microsoft.com/office/powerpoint/2010/main" val="314490748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endParaRPr lang="en-PH"/>
          </a:p>
        </p:txBody>
      </p:sp>
      <p:sp>
        <p:nvSpPr>
          <p:cNvPr id="3" name="Picture Placeholder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PH" noProof="0"/>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en-US"/>
          </a:p>
        </p:txBody>
      </p:sp>
      <p:sp>
        <p:nvSpPr>
          <p:cNvPr id="7" name="Rectangle 6"/>
          <p:cNvSpPr>
            <a:spLocks noGrp="1" noChangeArrowheads="1"/>
          </p:cNvSpPr>
          <p:nvPr>
            <p:ph type="sldNum" sz="quarter" idx="12"/>
          </p:nvPr>
        </p:nvSpPr>
        <p:spPr>
          <a:ln/>
        </p:spPr>
        <p:txBody>
          <a:bodyPr/>
          <a:lstStyle>
            <a:lvl1pPr>
              <a:defRPr/>
            </a:lvl1pPr>
          </a:lstStyle>
          <a:p>
            <a:fld id="{9FB2CF67-C33E-4D44-9535-C5B7B9040025}" type="slidenum">
              <a:rPr lang="en-US" altLang="en-US"/>
              <a:pPr/>
              <a:t>‹#›</a:t>
            </a:fld>
            <a:endParaRPr lang="en-US" altLang="en-US"/>
          </a:p>
        </p:txBody>
      </p:sp>
    </p:spTree>
    <p:extLst>
      <p:ext uri="{BB962C8B-B14F-4D97-AF65-F5344CB8AC3E}">
        <p14:creationId xmlns:p14="http://schemas.microsoft.com/office/powerpoint/2010/main" val="37678873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PH"/>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en-US"/>
          </a:p>
        </p:txBody>
      </p:sp>
      <p:sp>
        <p:nvSpPr>
          <p:cNvPr id="6" name="Rectangle 6"/>
          <p:cNvSpPr>
            <a:spLocks noGrp="1" noChangeArrowheads="1"/>
          </p:cNvSpPr>
          <p:nvPr>
            <p:ph type="sldNum" sz="quarter" idx="12"/>
          </p:nvPr>
        </p:nvSpPr>
        <p:spPr>
          <a:ln/>
        </p:spPr>
        <p:txBody>
          <a:bodyPr/>
          <a:lstStyle>
            <a:lvl1pPr>
              <a:defRPr/>
            </a:lvl1pPr>
          </a:lstStyle>
          <a:p>
            <a:fld id="{D88F6E86-991B-4D5C-BA01-7B2BB5E12765}" type="slidenum">
              <a:rPr lang="en-US" altLang="en-US"/>
              <a:pPr/>
              <a:t>‹#›</a:t>
            </a:fld>
            <a:endParaRPr lang="en-US" altLang="en-US"/>
          </a:p>
        </p:txBody>
      </p:sp>
    </p:spTree>
    <p:extLst>
      <p:ext uri="{BB962C8B-B14F-4D97-AF65-F5344CB8AC3E}">
        <p14:creationId xmlns:p14="http://schemas.microsoft.com/office/powerpoint/2010/main" val="17014270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PH"/>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en-US"/>
          </a:p>
        </p:txBody>
      </p:sp>
      <p:sp>
        <p:nvSpPr>
          <p:cNvPr id="6" name="Rectangle 6"/>
          <p:cNvSpPr>
            <a:spLocks noGrp="1" noChangeArrowheads="1"/>
          </p:cNvSpPr>
          <p:nvPr>
            <p:ph type="sldNum" sz="quarter" idx="12"/>
          </p:nvPr>
        </p:nvSpPr>
        <p:spPr>
          <a:ln/>
        </p:spPr>
        <p:txBody>
          <a:bodyPr/>
          <a:lstStyle>
            <a:lvl1pPr>
              <a:defRPr/>
            </a:lvl1pPr>
          </a:lstStyle>
          <a:p>
            <a:fld id="{D13A695C-51CE-4FB1-B84C-EE46464E6A65}" type="slidenum">
              <a:rPr lang="en-US" altLang="en-US"/>
              <a:pPr/>
              <a:t>‹#›</a:t>
            </a:fld>
            <a:endParaRPr lang="en-US" altLang="en-US"/>
          </a:p>
        </p:txBody>
      </p:sp>
    </p:spTree>
    <p:extLst>
      <p:ext uri="{BB962C8B-B14F-4D97-AF65-F5344CB8AC3E}">
        <p14:creationId xmlns:p14="http://schemas.microsoft.com/office/powerpoint/2010/main" val="35079768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3"/>
          <a:srcRect/>
          <a:stretch>
            <a:fillRect/>
          </a:stretch>
        </a:blip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57200" y="274638"/>
            <a:ext cx="82296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Rectangle 3"/>
          <p:cNvSpPr>
            <a:spLocks noGrp="1" noChangeArrowheads="1"/>
          </p:cNvSpPr>
          <p:nvPr>
            <p:ph type="body" idx="1"/>
          </p:nvPr>
        </p:nvSpPr>
        <p:spPr bwMode="auto">
          <a:xfrm>
            <a:off x="457200" y="1600200"/>
            <a:ext cx="8229600" cy="4525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28" name="Rectangle 4"/>
          <p:cNvSpPr>
            <a:spLocks noGrp="1" noChangeArrowheads="1"/>
          </p:cNvSpPr>
          <p:nvPr>
            <p:ph type="dt" sz="half" idx="2"/>
          </p:nvPr>
        </p:nvSpPr>
        <p:spPr bwMode="auto">
          <a:xfrm>
            <a:off x="457200" y="6245225"/>
            <a:ext cx="2133600" cy="476250"/>
          </a:xfrm>
          <a:prstGeom prst="rect">
            <a:avLst/>
          </a:prstGeom>
          <a:noFill/>
          <a:ln>
            <a:noFill/>
          </a:ln>
          <a:effectLst/>
        </p:spPr>
        <p:txBody>
          <a:bodyPr vert="horz" wrap="square" lIns="91440" tIns="45720" rIns="91440" bIns="45720" numCol="1" anchor="t" anchorCtr="0" compatLnSpc="1">
            <a:prstTxWarp prst="textNoShape">
              <a:avLst/>
            </a:prstTxWarp>
          </a:bodyPr>
          <a:lstStyle>
            <a:lvl1pPr eaLnBrk="1" hangingPunct="1">
              <a:defRPr sz="1400">
                <a:latin typeface="Arial" panose="020B0604020202020204" pitchFamily="34" charset="0"/>
              </a:defRPr>
            </a:lvl1pPr>
          </a:lstStyle>
          <a:p>
            <a:pPr>
              <a:defRPr/>
            </a:pPr>
            <a:endParaRPr lang="en-US" altLang="en-US"/>
          </a:p>
        </p:txBody>
      </p:sp>
      <p:sp>
        <p:nvSpPr>
          <p:cNvPr id="1029" name="Rectangle 5"/>
          <p:cNvSpPr>
            <a:spLocks noGrp="1" noChangeArrowheads="1"/>
          </p:cNvSpPr>
          <p:nvPr>
            <p:ph type="ftr" sz="quarter" idx="3"/>
          </p:nvPr>
        </p:nvSpPr>
        <p:spPr bwMode="auto">
          <a:xfrm>
            <a:off x="3124200" y="6245225"/>
            <a:ext cx="2895600" cy="476250"/>
          </a:xfrm>
          <a:prstGeom prst="rect">
            <a:avLst/>
          </a:prstGeom>
          <a:noFill/>
          <a:ln>
            <a:noFill/>
          </a:ln>
          <a:effectLst/>
        </p:spPr>
        <p:txBody>
          <a:bodyPr vert="horz" wrap="square" lIns="91440" tIns="45720" rIns="91440" bIns="45720" numCol="1" anchor="t" anchorCtr="0" compatLnSpc="1">
            <a:prstTxWarp prst="textNoShape">
              <a:avLst/>
            </a:prstTxWarp>
          </a:bodyPr>
          <a:lstStyle>
            <a:lvl1pPr algn="ctr" eaLnBrk="1" hangingPunct="1">
              <a:defRPr sz="1400">
                <a:latin typeface="Arial" panose="020B0604020202020204" pitchFamily="34" charset="0"/>
              </a:defRPr>
            </a:lvl1pPr>
          </a:lstStyle>
          <a:p>
            <a:pPr>
              <a:defRPr/>
            </a:pPr>
            <a:endParaRPr lang="en-US" altLang="en-US"/>
          </a:p>
        </p:txBody>
      </p:sp>
      <p:sp>
        <p:nvSpPr>
          <p:cNvPr id="1030" name="Rectangle 6"/>
          <p:cNvSpPr>
            <a:spLocks noGrp="1" noChangeArrowheads="1"/>
          </p:cNvSpPr>
          <p:nvPr>
            <p:ph type="sldNum" sz="quarter" idx="4"/>
          </p:nvPr>
        </p:nvSpPr>
        <p:spPr bwMode="auto">
          <a:xfrm>
            <a:off x="6553200" y="6245225"/>
            <a:ext cx="2133600" cy="476250"/>
          </a:xfrm>
          <a:prstGeom prst="rect">
            <a:avLst/>
          </a:prstGeom>
          <a:noFill/>
          <a:ln>
            <a:noFill/>
          </a:ln>
          <a:effectLst/>
        </p:spPr>
        <p:txBody>
          <a:bodyPr vert="horz" wrap="square" lIns="91440" tIns="45720" rIns="91440" bIns="45720" numCol="1" anchor="t" anchorCtr="0" compatLnSpc="1">
            <a:prstTxWarp prst="textNoShape">
              <a:avLst/>
            </a:prstTxWarp>
          </a:bodyPr>
          <a:lstStyle>
            <a:lvl1pPr algn="r" eaLnBrk="1" hangingPunct="1">
              <a:defRPr sz="1400"/>
            </a:lvl1pPr>
          </a:lstStyle>
          <a:p>
            <a:fld id="{CC51B994-2C47-4B9E-8DE3-0FC554B0BEF1}" type="slidenum">
              <a:rPr lang="en-US" altLang="en-US"/>
              <a:pPr/>
              <a:t>‹#›</a:t>
            </a:fld>
            <a:endParaRPr lang="en-US"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defRPr>
      </a:lvl2pPr>
      <a:lvl3pPr algn="ctr" rtl="0" eaLnBrk="0" fontAlgn="base" hangingPunct="0">
        <a:spcBef>
          <a:spcPct val="0"/>
        </a:spcBef>
        <a:spcAft>
          <a:spcPct val="0"/>
        </a:spcAft>
        <a:defRPr sz="4400">
          <a:solidFill>
            <a:schemeClr val="tx2"/>
          </a:solidFill>
          <a:latin typeface="Arial" panose="020B0604020202020204" pitchFamily="34" charset="0"/>
        </a:defRPr>
      </a:lvl3pPr>
      <a:lvl4pPr algn="ctr" rtl="0" eaLnBrk="0" fontAlgn="base" hangingPunct="0">
        <a:spcBef>
          <a:spcPct val="0"/>
        </a:spcBef>
        <a:spcAft>
          <a:spcPct val="0"/>
        </a:spcAft>
        <a:defRPr sz="4400">
          <a:solidFill>
            <a:schemeClr val="tx2"/>
          </a:solidFill>
          <a:latin typeface="Arial" panose="020B0604020202020204" pitchFamily="34" charset="0"/>
        </a:defRPr>
      </a:lvl4pPr>
      <a:lvl5pPr algn="ctr" rtl="0" eaLnBrk="0" fontAlgn="base" hangingPunct="0">
        <a:spcBef>
          <a:spcPct val="0"/>
        </a:spcBef>
        <a:spcAft>
          <a:spcPct val="0"/>
        </a:spcAft>
        <a:defRPr sz="4400">
          <a:solidFill>
            <a:schemeClr val="tx2"/>
          </a:solidFill>
          <a:latin typeface="Arial" panose="020B0604020202020204" pitchFamily="34" charset="0"/>
        </a:defRPr>
      </a:lvl5pPr>
      <a:lvl6pPr marL="457200" algn="ctr" rtl="0" fontAlgn="base">
        <a:spcBef>
          <a:spcPct val="0"/>
        </a:spcBef>
        <a:spcAft>
          <a:spcPct val="0"/>
        </a:spcAft>
        <a:defRPr sz="4400">
          <a:solidFill>
            <a:schemeClr val="tx2"/>
          </a:solidFill>
          <a:latin typeface="Arial" panose="020B0604020202020204" pitchFamily="34" charset="0"/>
        </a:defRPr>
      </a:lvl6pPr>
      <a:lvl7pPr marL="914400" algn="ctr" rtl="0" fontAlgn="base">
        <a:spcBef>
          <a:spcPct val="0"/>
        </a:spcBef>
        <a:spcAft>
          <a:spcPct val="0"/>
        </a:spcAft>
        <a:defRPr sz="4400">
          <a:solidFill>
            <a:schemeClr val="tx2"/>
          </a:solidFill>
          <a:latin typeface="Arial" panose="020B0604020202020204" pitchFamily="34" charset="0"/>
        </a:defRPr>
      </a:lvl7pPr>
      <a:lvl8pPr marL="1371600" algn="ctr" rtl="0" fontAlgn="base">
        <a:spcBef>
          <a:spcPct val="0"/>
        </a:spcBef>
        <a:spcAft>
          <a:spcPct val="0"/>
        </a:spcAft>
        <a:defRPr sz="4400">
          <a:solidFill>
            <a:schemeClr val="tx2"/>
          </a:solidFill>
          <a:latin typeface="Arial" panose="020B0604020202020204" pitchFamily="34" charset="0"/>
        </a:defRPr>
      </a:lvl8pPr>
      <a:lvl9pPr marL="1828800" algn="ctr" rtl="0" fontAlgn="base">
        <a:spcBef>
          <a:spcPct val="0"/>
        </a:spcBef>
        <a:spcAft>
          <a:spcPct val="0"/>
        </a:spcAft>
        <a:defRPr sz="4400">
          <a:solidFill>
            <a:schemeClr val="tx2"/>
          </a:solidFill>
          <a:latin typeface="Arial" panose="020B0604020202020204" pitchFamily="34" charset="0"/>
        </a:defRPr>
      </a:lvl9pPr>
    </p:titleStyle>
    <p:body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8" Type="http://schemas.openxmlformats.org/officeDocument/2006/relationships/image" Target="../media/image11.jpeg"/><Relationship Id="rId3" Type="http://schemas.openxmlformats.org/officeDocument/2006/relationships/hyperlink" Target="http://images.google.com/imgres?imgurl=http://content.screencast.com/media/1315499f-f337-4cf9-a99e-f8a1e92075a0_aa65a76c-fff6-4e10-b662-ceba8e05d445_static_0_0_00000054.png&amp;imgrefurl=http://marcoramilli.blogspot.com/2008_04_01_archive.html&amp;usg=__gaBKazyU7OwpNl4gCuvpLBYViAI=&amp;h=334&amp;w=501&amp;sz=227&amp;hl=en&amp;start=46&amp;tbnid=BzGDhogZQJ5NMM:&amp;tbnh=87&amp;tbnw=130&amp;prev=/images%3Fq%3Ddouble%2Bserver%2Broom%2Bdoor%26gbv%3D2%26ndsp%3D20%26hl%3Den%26sa%3DN%26start%3D40" TargetMode="External"/><Relationship Id="rId7" Type="http://schemas.openxmlformats.org/officeDocument/2006/relationships/image" Target="../media/image10.jpeg"/><Relationship Id="rId2" Type="http://schemas.openxmlformats.org/officeDocument/2006/relationships/image" Target="http://luv-world.com/images/bg.gif" TargetMode="External"/><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jpeg"/><Relationship Id="rId4" Type="http://schemas.openxmlformats.org/officeDocument/2006/relationships/image" Target="../media/image7.jpeg"/></Relationships>
</file>

<file path=ppt/slides/_rels/slide8.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image" Target="../media/image16.jpeg"/><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11.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image" Target="../media/image19.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15.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image" Target="../media/image27.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image" Target="../media/image29.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image" Target="../media/image31.jpeg"/><Relationship Id="rId1" Type="http://schemas.openxmlformats.org/officeDocument/2006/relationships/slideLayout" Target="../slideLayouts/slideLayout2.xml"/><Relationship Id="rId5" Type="http://schemas.openxmlformats.org/officeDocument/2006/relationships/image" Target="../media/image34.png"/><Relationship Id="rId4" Type="http://schemas.openxmlformats.org/officeDocument/2006/relationships/image" Target="../media/image33.jpeg"/></Relationships>
</file>

<file path=ppt/slides/_rels/slide18.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image" Target="../media/image35.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jpeg"/><Relationship Id="rId1" Type="http://schemas.openxmlformats.org/officeDocument/2006/relationships/slideLayout" Target="../slideLayouts/slideLayout2.xml"/><Relationship Id="rId4" Type="http://schemas.openxmlformats.org/officeDocument/2006/relationships/image" Target="../media/image39.png"/></Relationships>
</file>

<file path=ppt/slides/_rels/slide20.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43.jpeg"/><Relationship Id="rId2" Type="http://schemas.openxmlformats.org/officeDocument/2006/relationships/image" Target="../media/image42.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3"/>
          <p:cNvSpPr>
            <a:spLocks noGrp="1" noChangeArrowheads="1"/>
          </p:cNvSpPr>
          <p:nvPr>
            <p:ph type="subTitle" idx="1"/>
          </p:nvPr>
        </p:nvSpPr>
        <p:spPr>
          <a:xfrm>
            <a:off x="1447800" y="5105400"/>
            <a:ext cx="6400800" cy="1752600"/>
          </a:xfrm>
        </p:spPr>
        <p:txBody>
          <a:bodyPr/>
          <a:lstStyle/>
          <a:p>
            <a:pPr eaLnBrk="1" hangingPunct="1"/>
            <a:r>
              <a:rPr lang="en-US" altLang="en-US" sz="3200"/>
              <a:t>Data Centers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p:txBody>
          <a:bodyPr/>
          <a:lstStyle/>
          <a:p>
            <a:pPr eaLnBrk="1" hangingPunct="1"/>
            <a:r>
              <a:rPr lang="en-US" altLang="en-US"/>
              <a:t>Data Centers</a:t>
            </a:r>
          </a:p>
        </p:txBody>
      </p:sp>
      <p:sp>
        <p:nvSpPr>
          <p:cNvPr id="3075" name="Rectangle 3"/>
          <p:cNvSpPr>
            <a:spLocks noGrp="1" noChangeArrowheads="1"/>
          </p:cNvSpPr>
          <p:nvPr>
            <p:ph type="body" idx="1"/>
          </p:nvPr>
        </p:nvSpPr>
        <p:spPr>
          <a:xfrm>
            <a:off x="457200" y="1600200"/>
            <a:ext cx="8229600" cy="5257800"/>
          </a:xfrm>
        </p:spPr>
        <p:txBody>
          <a:bodyPr/>
          <a:lstStyle/>
          <a:p>
            <a:pPr eaLnBrk="1" hangingPunct="1"/>
            <a:r>
              <a:rPr lang="en-US" altLang="en-US"/>
              <a:t>What is a datacenter?	</a:t>
            </a:r>
          </a:p>
          <a:p>
            <a:pPr lvl="1" eaLnBrk="1" hangingPunct="1"/>
            <a:r>
              <a:rPr lang="en-US" altLang="en-US"/>
              <a:t>“ a data center is a place where you keep machines that are a shared resource”</a:t>
            </a:r>
          </a:p>
          <a:p>
            <a:pPr lvl="1" eaLnBrk="1" hangingPunct="1"/>
            <a:r>
              <a:rPr lang="en-US" altLang="en-US"/>
              <a:t>Other terms that basically mean the same thing</a:t>
            </a:r>
          </a:p>
          <a:p>
            <a:pPr lvl="2" eaLnBrk="1" hangingPunct="1"/>
            <a:r>
              <a:rPr lang="en-US" altLang="en-US"/>
              <a:t>Server room</a:t>
            </a:r>
          </a:p>
          <a:p>
            <a:pPr lvl="2" eaLnBrk="1" hangingPunct="1"/>
            <a:r>
              <a:rPr lang="en-US" altLang="en-US"/>
              <a:t>Machine room</a:t>
            </a:r>
          </a:p>
          <a:p>
            <a:pPr lvl="2" eaLnBrk="1" hangingPunct="1"/>
            <a:r>
              <a:rPr lang="en-US" altLang="en-US"/>
              <a:t>Server closet</a:t>
            </a:r>
          </a:p>
          <a:p>
            <a:pPr lvl="1" eaLnBrk="1" hangingPunct="1"/>
            <a:r>
              <a:rPr lang="en-US" altLang="en-US"/>
              <a:t>Many things that make a data center more than just another room where computers run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p:txBody>
          <a:bodyPr/>
          <a:lstStyle/>
          <a:p>
            <a:pPr eaLnBrk="1" hangingPunct="1"/>
            <a:r>
              <a:rPr lang="en-US" altLang="en-US" sz="4000"/>
              <a:t>Major Components to a Data Center</a:t>
            </a:r>
          </a:p>
        </p:txBody>
      </p:sp>
      <p:sp>
        <p:nvSpPr>
          <p:cNvPr id="4099" name="Rectangle 3"/>
          <p:cNvSpPr>
            <a:spLocks noGrp="1" noChangeArrowheads="1"/>
          </p:cNvSpPr>
          <p:nvPr>
            <p:ph type="body" idx="1"/>
          </p:nvPr>
        </p:nvSpPr>
        <p:spPr>
          <a:xfrm>
            <a:off x="0" y="1447800"/>
            <a:ext cx="8229600" cy="4525963"/>
          </a:xfrm>
        </p:spPr>
        <p:txBody>
          <a:bodyPr/>
          <a:lstStyle/>
          <a:p>
            <a:pPr marL="457200" indent="-457200" eaLnBrk="1" hangingPunct="1">
              <a:lnSpc>
                <a:spcPct val="90000"/>
              </a:lnSpc>
              <a:buFontTx/>
              <a:buNone/>
            </a:pPr>
            <a:r>
              <a:rPr lang="en-US" altLang="en-US" sz="2400"/>
              <a:t>     What makes a data center more than just a closet with a bunch of servers?</a:t>
            </a:r>
          </a:p>
          <a:p>
            <a:pPr marL="1257300" lvl="2" indent="-342900" eaLnBrk="1" hangingPunct="1">
              <a:lnSpc>
                <a:spcPct val="90000"/>
              </a:lnSpc>
              <a:buFontTx/>
              <a:buAutoNum type="arabicPeriod"/>
            </a:pPr>
            <a:r>
              <a:rPr lang="en-US" altLang="en-US" sz="1800"/>
              <a:t>Location</a:t>
            </a:r>
          </a:p>
          <a:p>
            <a:pPr marL="1257300" lvl="2" indent="-342900" eaLnBrk="1" hangingPunct="1">
              <a:lnSpc>
                <a:spcPct val="90000"/>
              </a:lnSpc>
              <a:buFontTx/>
              <a:buAutoNum type="arabicPeriod"/>
            </a:pPr>
            <a:r>
              <a:rPr lang="en-US" altLang="en-US" sz="1800"/>
              <a:t>Access</a:t>
            </a:r>
          </a:p>
          <a:p>
            <a:pPr marL="1257300" lvl="2" indent="-342900" eaLnBrk="1" hangingPunct="1">
              <a:lnSpc>
                <a:spcPct val="90000"/>
              </a:lnSpc>
              <a:buFontTx/>
              <a:buAutoNum type="arabicPeriod"/>
            </a:pPr>
            <a:r>
              <a:rPr lang="en-US" altLang="en-US" sz="1800"/>
              <a:t>Security</a:t>
            </a:r>
          </a:p>
          <a:p>
            <a:pPr marL="1257300" lvl="2" indent="-342900" eaLnBrk="1" hangingPunct="1">
              <a:lnSpc>
                <a:spcPct val="90000"/>
              </a:lnSpc>
              <a:buFontTx/>
              <a:buAutoNum type="arabicPeriod"/>
            </a:pPr>
            <a:r>
              <a:rPr lang="en-US" altLang="en-US" sz="1800"/>
              <a:t>Power, Cooling, Humidity</a:t>
            </a:r>
          </a:p>
          <a:p>
            <a:pPr marL="1257300" lvl="2" indent="-342900" eaLnBrk="1" hangingPunct="1">
              <a:lnSpc>
                <a:spcPct val="90000"/>
              </a:lnSpc>
              <a:buFontTx/>
              <a:buAutoNum type="arabicPeriod"/>
            </a:pPr>
            <a:r>
              <a:rPr lang="en-US" altLang="en-US" sz="1800"/>
              <a:t>Fire Suppression</a:t>
            </a:r>
          </a:p>
          <a:p>
            <a:pPr marL="1257300" lvl="2" indent="-342900" eaLnBrk="1" hangingPunct="1">
              <a:lnSpc>
                <a:spcPct val="90000"/>
              </a:lnSpc>
              <a:buFontTx/>
              <a:buAutoNum type="arabicPeriod"/>
            </a:pPr>
            <a:r>
              <a:rPr lang="en-US" altLang="en-US" sz="1800"/>
              <a:t>Racks</a:t>
            </a:r>
          </a:p>
          <a:p>
            <a:pPr marL="1257300" lvl="2" indent="-342900" eaLnBrk="1" hangingPunct="1">
              <a:lnSpc>
                <a:spcPct val="90000"/>
              </a:lnSpc>
              <a:buFontTx/>
              <a:buAutoNum type="arabicPeriod"/>
            </a:pPr>
            <a:r>
              <a:rPr lang="en-US" altLang="en-US" sz="1800"/>
              <a:t>Cable Management</a:t>
            </a:r>
          </a:p>
          <a:p>
            <a:pPr marL="1257300" lvl="2" indent="-342900" eaLnBrk="1" hangingPunct="1">
              <a:lnSpc>
                <a:spcPct val="90000"/>
              </a:lnSpc>
              <a:buFontTx/>
              <a:buAutoNum type="arabicPeriod"/>
            </a:pPr>
            <a:r>
              <a:rPr lang="en-US" altLang="en-US" sz="1800"/>
              <a:t>Communications</a:t>
            </a:r>
          </a:p>
          <a:p>
            <a:pPr marL="1257300" lvl="2" indent="-342900" eaLnBrk="1" hangingPunct="1">
              <a:lnSpc>
                <a:spcPct val="90000"/>
              </a:lnSpc>
              <a:buFontTx/>
              <a:buAutoNum type="arabicPeriod"/>
            </a:pPr>
            <a:r>
              <a:rPr lang="en-US" altLang="en-US" sz="1800"/>
              <a:t>Console Access</a:t>
            </a:r>
          </a:p>
          <a:p>
            <a:pPr marL="1257300" lvl="2" indent="-342900" eaLnBrk="1" hangingPunct="1">
              <a:lnSpc>
                <a:spcPct val="90000"/>
              </a:lnSpc>
              <a:buFontTx/>
              <a:buAutoNum type="arabicPeriod"/>
            </a:pPr>
            <a:r>
              <a:rPr lang="en-US" altLang="en-US" sz="1800"/>
              <a:t>Workbench</a:t>
            </a:r>
          </a:p>
          <a:p>
            <a:pPr marL="1257300" lvl="2" indent="-342900" eaLnBrk="1" hangingPunct="1">
              <a:lnSpc>
                <a:spcPct val="90000"/>
              </a:lnSpc>
              <a:buFontTx/>
              <a:buAutoNum type="arabicPeriod"/>
            </a:pPr>
            <a:r>
              <a:rPr lang="en-US" altLang="en-US" sz="1800"/>
              <a:t>Tools, parts, etc</a:t>
            </a:r>
          </a:p>
        </p:txBody>
      </p:sp>
      <p:pic>
        <p:nvPicPr>
          <p:cNvPr id="4100"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67200" y="2362200"/>
            <a:ext cx="4429125" cy="3267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p:txBody>
          <a:bodyPr/>
          <a:lstStyle/>
          <a:p>
            <a:pPr eaLnBrk="1" hangingPunct="1"/>
            <a:r>
              <a:rPr lang="en-US" altLang="en-US"/>
              <a:t>Location</a:t>
            </a:r>
          </a:p>
        </p:txBody>
      </p:sp>
      <p:sp>
        <p:nvSpPr>
          <p:cNvPr id="5123" name="Rectangle 3"/>
          <p:cNvSpPr>
            <a:spLocks noGrp="1" noChangeArrowheads="1"/>
          </p:cNvSpPr>
          <p:nvPr>
            <p:ph type="body" idx="1"/>
          </p:nvPr>
        </p:nvSpPr>
        <p:spPr>
          <a:xfrm>
            <a:off x="457200" y="1600200"/>
            <a:ext cx="8229600" cy="5257800"/>
          </a:xfrm>
        </p:spPr>
        <p:txBody>
          <a:bodyPr/>
          <a:lstStyle/>
          <a:p>
            <a:pPr eaLnBrk="1" hangingPunct="1">
              <a:lnSpc>
                <a:spcPct val="90000"/>
              </a:lnSpc>
            </a:pPr>
            <a:r>
              <a:rPr lang="en-US" altLang="en-US" sz="2400"/>
              <a:t>Where is your data center going to be located?  How many do you need?</a:t>
            </a:r>
          </a:p>
          <a:p>
            <a:pPr eaLnBrk="1" hangingPunct="1">
              <a:lnSpc>
                <a:spcPct val="90000"/>
              </a:lnSpc>
            </a:pPr>
            <a:r>
              <a:rPr lang="en-US" altLang="en-US" sz="2400"/>
              <a:t>Large multi-national corporations may have many with one acting as a primary and others as a backup</a:t>
            </a:r>
          </a:p>
          <a:p>
            <a:pPr eaLnBrk="1" hangingPunct="1">
              <a:lnSpc>
                <a:spcPct val="90000"/>
              </a:lnSpc>
            </a:pPr>
            <a:r>
              <a:rPr lang="en-US" altLang="en-US" sz="2400"/>
              <a:t>May run data centers concurrently as to balance load and provide immediate fail-over</a:t>
            </a:r>
          </a:p>
          <a:p>
            <a:pPr eaLnBrk="1" hangingPunct="1">
              <a:lnSpc>
                <a:spcPct val="90000"/>
              </a:lnSpc>
            </a:pPr>
            <a:r>
              <a:rPr lang="en-US" altLang="en-US" sz="2400"/>
              <a:t>Smaller companies or educational institutions may have many, one for each college, or a few for the entire university</a:t>
            </a:r>
          </a:p>
          <a:p>
            <a:pPr eaLnBrk="1" hangingPunct="1">
              <a:lnSpc>
                <a:spcPct val="90000"/>
              </a:lnSpc>
            </a:pPr>
            <a:r>
              <a:rPr lang="en-US" altLang="en-US" sz="2400"/>
              <a:t>May be placed ‘strategically’ around the university or around the area (CNY) as to minimize expense.</a:t>
            </a:r>
          </a:p>
          <a:p>
            <a:pPr eaLnBrk="1" hangingPunct="1">
              <a:lnSpc>
                <a:spcPct val="90000"/>
              </a:lnSpc>
            </a:pPr>
            <a:r>
              <a:rPr lang="en-US" altLang="en-US" sz="2400"/>
              <a:t>Even the best data centers with redundant power, cooling, etc. can fall victim to a contactor with a backhoe or excavating equipment.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p:txBody>
          <a:bodyPr/>
          <a:lstStyle/>
          <a:p>
            <a:pPr eaLnBrk="1" hangingPunct="1"/>
            <a:r>
              <a:rPr lang="en-US" altLang="en-US"/>
              <a:t>Location</a:t>
            </a:r>
          </a:p>
        </p:txBody>
      </p:sp>
      <p:sp>
        <p:nvSpPr>
          <p:cNvPr id="7171" name="Rectangle 3"/>
          <p:cNvSpPr>
            <a:spLocks noGrp="1" noChangeArrowheads="1"/>
          </p:cNvSpPr>
          <p:nvPr>
            <p:ph type="body" idx="1"/>
          </p:nvPr>
        </p:nvSpPr>
        <p:spPr>
          <a:xfrm>
            <a:off x="457200" y="1600200"/>
            <a:ext cx="5257800" cy="4525963"/>
          </a:xfrm>
        </p:spPr>
        <p:txBody>
          <a:bodyPr/>
          <a:lstStyle/>
          <a:p>
            <a:pPr eaLnBrk="1" hangingPunct="1">
              <a:lnSpc>
                <a:spcPct val="80000"/>
              </a:lnSpc>
            </a:pPr>
            <a:r>
              <a:rPr lang="en-US" altLang="en-US" sz="2400"/>
              <a:t>If your area is susceptible to flooding, don’t put your data center in the basement.</a:t>
            </a:r>
          </a:p>
          <a:p>
            <a:pPr eaLnBrk="1" hangingPunct="1">
              <a:lnSpc>
                <a:spcPct val="80000"/>
              </a:lnSpc>
            </a:pPr>
            <a:r>
              <a:rPr lang="en-US" altLang="en-US" sz="2400"/>
              <a:t>“Some company has two data centers. They change primary data centers every 6 months.”</a:t>
            </a:r>
          </a:p>
          <a:p>
            <a:pPr eaLnBrk="1" hangingPunct="1">
              <a:lnSpc>
                <a:spcPct val="80000"/>
              </a:lnSpc>
            </a:pPr>
            <a:r>
              <a:rPr lang="en-US" altLang="en-US" sz="2400"/>
              <a:t>Why?</a:t>
            </a:r>
          </a:p>
          <a:p>
            <a:pPr eaLnBrk="1" hangingPunct="1">
              <a:lnSpc>
                <a:spcPct val="80000"/>
              </a:lnSpc>
            </a:pPr>
            <a:r>
              <a:rPr lang="en-US" altLang="en-US" sz="2400"/>
              <a:t>Florida is susceptible to hurricanes and Colorado is susceptible to huge snow storms.</a:t>
            </a:r>
          </a:p>
          <a:p>
            <a:pPr eaLnBrk="1" hangingPunct="1">
              <a:lnSpc>
                <a:spcPct val="80000"/>
              </a:lnSpc>
            </a:pPr>
            <a:r>
              <a:rPr lang="en-US" altLang="en-US" sz="2400"/>
              <a:t>Also a great way of testing their disaster recovery environment.</a:t>
            </a:r>
          </a:p>
        </p:txBody>
      </p:sp>
      <p:pic>
        <p:nvPicPr>
          <p:cNvPr id="6148" name="Picture 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15000" y="3902075"/>
            <a:ext cx="2971800" cy="235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49" name="Picture 1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15000" y="1524000"/>
            <a:ext cx="3071813" cy="2047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7171">
                                            <p:txEl>
                                              <p:pRg st="3" end="3"/>
                                            </p:txEl>
                                          </p:spTgt>
                                        </p:tgtEl>
                                        <p:attrNameLst>
                                          <p:attrName>style.visibility</p:attrName>
                                        </p:attrNameLst>
                                      </p:cBhvr>
                                      <p:to>
                                        <p:strVal val="visible"/>
                                      </p:to>
                                    </p:set>
                                    <p:animEffect transition="in" filter="box(in)">
                                      <p:cBhvr>
                                        <p:cTn id="7" dur="500"/>
                                        <p:tgtEl>
                                          <p:spTgt spid="7171">
                                            <p:txEl>
                                              <p:pRg st="3" end="3"/>
                                            </p:txEl>
                                          </p:spTgt>
                                        </p:tgtEl>
                                      </p:cBhvr>
                                    </p:animEffect>
                                  </p:childTnLst>
                                </p:cTn>
                              </p:par>
                              <p:par>
                                <p:cTn id="8" presetID="4" presetClass="entr" presetSubtype="16" fill="hold" nodeType="withEffect">
                                  <p:stCondLst>
                                    <p:cond delay="0"/>
                                  </p:stCondLst>
                                  <p:childTnLst>
                                    <p:set>
                                      <p:cBhvr>
                                        <p:cTn id="9" dur="1" fill="hold">
                                          <p:stCondLst>
                                            <p:cond delay="0"/>
                                          </p:stCondLst>
                                        </p:cTn>
                                        <p:tgtEl>
                                          <p:spTgt spid="7171">
                                            <p:txEl>
                                              <p:pRg st="4" end="4"/>
                                            </p:txEl>
                                          </p:spTgt>
                                        </p:tgtEl>
                                        <p:attrNameLst>
                                          <p:attrName>style.visibility</p:attrName>
                                        </p:attrNameLst>
                                      </p:cBhvr>
                                      <p:to>
                                        <p:strVal val="visible"/>
                                      </p:to>
                                    </p:set>
                                    <p:animEffect transition="in" filter="box(in)">
                                      <p:cBhvr>
                                        <p:cTn id="10" dur="500"/>
                                        <p:tgtEl>
                                          <p:spTgt spid="7171">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p:txBody>
          <a:bodyPr/>
          <a:lstStyle/>
          <a:p>
            <a:pPr eaLnBrk="1" hangingPunct="1"/>
            <a:r>
              <a:rPr lang="en-US" altLang="en-US"/>
              <a:t>Access</a:t>
            </a:r>
          </a:p>
        </p:txBody>
      </p:sp>
      <p:sp>
        <p:nvSpPr>
          <p:cNvPr id="7171" name="Rectangle 3"/>
          <p:cNvSpPr>
            <a:spLocks noGrp="1" noChangeArrowheads="1"/>
          </p:cNvSpPr>
          <p:nvPr>
            <p:ph type="body" idx="1"/>
          </p:nvPr>
        </p:nvSpPr>
        <p:spPr>
          <a:xfrm>
            <a:off x="457200" y="1600200"/>
            <a:ext cx="5334000" cy="4525963"/>
          </a:xfrm>
        </p:spPr>
        <p:txBody>
          <a:bodyPr/>
          <a:lstStyle/>
          <a:p>
            <a:pPr eaLnBrk="1" hangingPunct="1">
              <a:lnSpc>
                <a:spcPct val="90000"/>
              </a:lnSpc>
            </a:pPr>
            <a:r>
              <a:rPr lang="en-US" altLang="en-US"/>
              <a:t>What type of access is required?</a:t>
            </a:r>
          </a:p>
          <a:p>
            <a:pPr lvl="1" eaLnBrk="1" hangingPunct="1">
              <a:lnSpc>
                <a:spcPct val="90000"/>
              </a:lnSpc>
            </a:pPr>
            <a:r>
              <a:rPr lang="en-US" altLang="en-US"/>
              <a:t>Wheelchair, ramps, loading docks to unload equipment?</a:t>
            </a:r>
          </a:p>
          <a:p>
            <a:pPr eaLnBrk="1" hangingPunct="1">
              <a:lnSpc>
                <a:spcPct val="90000"/>
              </a:lnSpc>
            </a:pPr>
            <a:r>
              <a:rPr lang="en-US" altLang="en-US"/>
              <a:t>Some equipment is wider than the average sized door.  Need double-doors.</a:t>
            </a:r>
          </a:p>
          <a:p>
            <a:pPr eaLnBrk="1" hangingPunct="1">
              <a:lnSpc>
                <a:spcPct val="90000"/>
              </a:lnSpc>
            </a:pPr>
            <a:r>
              <a:rPr lang="en-US" altLang="en-US"/>
              <a:t>Restrict access to people who don’t need it.</a:t>
            </a:r>
          </a:p>
        </p:txBody>
      </p:sp>
      <p:pic>
        <p:nvPicPr>
          <p:cNvPr id="7172"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6000" y="1447800"/>
            <a:ext cx="2695575" cy="178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173" name="Picture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43600" y="3352800"/>
            <a:ext cx="2957513" cy="2957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0">
          <a:blip r:link="rId2"/>
          <a:srcRect/>
          <a:tile tx="0" ty="0" sx="100000" sy="100000" flip="none" algn="tl"/>
        </a:blipFill>
        <a:effectLst/>
      </p:bgPr>
    </p:bg>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pPr eaLnBrk="1" hangingPunct="1"/>
            <a:r>
              <a:rPr lang="en-US" altLang="en-US"/>
              <a:t>Security</a:t>
            </a:r>
          </a:p>
        </p:txBody>
      </p:sp>
      <p:sp>
        <p:nvSpPr>
          <p:cNvPr id="8195" name="Rectangle 3"/>
          <p:cNvSpPr>
            <a:spLocks noGrp="1" noChangeArrowheads="1"/>
          </p:cNvSpPr>
          <p:nvPr>
            <p:ph type="body" idx="1"/>
          </p:nvPr>
        </p:nvSpPr>
        <p:spPr>
          <a:xfrm>
            <a:off x="0" y="1219200"/>
            <a:ext cx="6019800" cy="5943600"/>
          </a:xfrm>
        </p:spPr>
        <p:txBody>
          <a:bodyPr/>
          <a:lstStyle/>
          <a:p>
            <a:pPr eaLnBrk="1" hangingPunct="1">
              <a:lnSpc>
                <a:spcPct val="80000"/>
              </a:lnSpc>
            </a:pPr>
            <a:r>
              <a:rPr lang="en-US" altLang="en-US" sz="2400"/>
              <a:t>What type of security do you require? </a:t>
            </a:r>
          </a:p>
          <a:p>
            <a:pPr lvl="1" eaLnBrk="1" hangingPunct="1">
              <a:lnSpc>
                <a:spcPct val="80000"/>
              </a:lnSpc>
            </a:pPr>
            <a:r>
              <a:rPr lang="en-US" altLang="en-US" sz="2200"/>
              <a:t>Numeric key pads – bad idea. Anyone can share the code.  No way of knowing who came in.</a:t>
            </a:r>
          </a:p>
          <a:p>
            <a:pPr lvl="1" eaLnBrk="1" hangingPunct="1">
              <a:lnSpc>
                <a:spcPct val="80000"/>
              </a:lnSpc>
            </a:pPr>
            <a:r>
              <a:rPr lang="en-US" altLang="en-US" sz="2200"/>
              <a:t>Keys, - better, at least you know who you gave the key to originally</a:t>
            </a:r>
          </a:p>
          <a:p>
            <a:pPr lvl="1" eaLnBrk="1" hangingPunct="1">
              <a:lnSpc>
                <a:spcPct val="80000"/>
              </a:lnSpc>
            </a:pPr>
            <a:r>
              <a:rPr lang="en-US" altLang="en-US" sz="2200"/>
              <a:t>Card swipes – even better, logs entry information and controls access</a:t>
            </a:r>
          </a:p>
          <a:p>
            <a:pPr lvl="1" eaLnBrk="1" hangingPunct="1">
              <a:lnSpc>
                <a:spcPct val="80000"/>
              </a:lnSpc>
            </a:pPr>
            <a:r>
              <a:rPr lang="en-US" altLang="en-US" sz="2200"/>
              <a:t>Proximity detectors – better still, same advantages as card swipes but more convenient</a:t>
            </a:r>
          </a:p>
          <a:p>
            <a:pPr lvl="1" eaLnBrk="1" hangingPunct="1">
              <a:lnSpc>
                <a:spcPct val="80000"/>
              </a:lnSpc>
            </a:pPr>
            <a:r>
              <a:rPr lang="en-US" altLang="en-US" sz="2200"/>
              <a:t>Biometrics – almost there. Thumb print reader or voice recognition. Disadvantages ?</a:t>
            </a:r>
          </a:p>
          <a:p>
            <a:pPr lvl="1" eaLnBrk="1" hangingPunct="1">
              <a:lnSpc>
                <a:spcPct val="80000"/>
              </a:lnSpc>
            </a:pPr>
            <a:r>
              <a:rPr lang="en-US" altLang="en-US" sz="2200"/>
              <a:t>Two Factor, -best, something you have and something you know.  A numeric keypad that requires both a static or non-changing code and a one-time-password security token.</a:t>
            </a:r>
          </a:p>
          <a:p>
            <a:pPr lvl="1" eaLnBrk="1" hangingPunct="1">
              <a:lnSpc>
                <a:spcPct val="80000"/>
              </a:lnSpc>
            </a:pPr>
            <a:endParaRPr lang="en-US" altLang="en-US" sz="2200"/>
          </a:p>
        </p:txBody>
      </p:sp>
      <p:pic>
        <p:nvPicPr>
          <p:cNvPr id="8196" name="Picture 5">
            <a:hlinkClick r:id="rId3"/>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705600" y="1219200"/>
            <a:ext cx="1600200" cy="1071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197" name="Picture 7"/>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096000" y="2438400"/>
            <a:ext cx="1555750" cy="2209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198" name="Picture 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696200" y="2438400"/>
            <a:ext cx="1343025" cy="1133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199" name="Picture 11"/>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7696200" y="3638550"/>
            <a:ext cx="1381125" cy="1009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200" name="Picture 1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248400" y="4724400"/>
            <a:ext cx="2590800" cy="1522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p:txBody>
          <a:bodyPr/>
          <a:lstStyle/>
          <a:p>
            <a:pPr eaLnBrk="1" hangingPunct="1"/>
            <a:r>
              <a:rPr lang="en-US" altLang="en-US"/>
              <a:t>Cooling</a:t>
            </a:r>
          </a:p>
        </p:txBody>
      </p:sp>
      <p:sp>
        <p:nvSpPr>
          <p:cNvPr id="9219" name="Rectangle 3"/>
          <p:cNvSpPr>
            <a:spLocks noGrp="1" noChangeArrowheads="1"/>
          </p:cNvSpPr>
          <p:nvPr>
            <p:ph type="body" idx="1"/>
          </p:nvPr>
        </p:nvSpPr>
        <p:spPr>
          <a:xfrm>
            <a:off x="457200" y="1600200"/>
            <a:ext cx="5029200" cy="5257800"/>
          </a:xfrm>
        </p:spPr>
        <p:txBody>
          <a:bodyPr/>
          <a:lstStyle/>
          <a:p>
            <a:pPr eaLnBrk="1" hangingPunct="1">
              <a:lnSpc>
                <a:spcPct val="80000"/>
              </a:lnSpc>
            </a:pPr>
            <a:r>
              <a:rPr lang="en-US" altLang="en-US" sz="2800"/>
              <a:t>For every watt of power used in the data center, you need to plan for the same amount of power to cool your equipment.</a:t>
            </a:r>
          </a:p>
          <a:p>
            <a:pPr eaLnBrk="1" hangingPunct="1">
              <a:lnSpc>
                <a:spcPct val="80000"/>
              </a:lnSpc>
            </a:pPr>
            <a:r>
              <a:rPr lang="en-US" altLang="en-US" sz="2800"/>
              <a:t>Direct your cool air where you need it</a:t>
            </a:r>
          </a:p>
          <a:p>
            <a:pPr eaLnBrk="1" hangingPunct="1">
              <a:lnSpc>
                <a:spcPct val="80000"/>
              </a:lnSpc>
            </a:pPr>
            <a:r>
              <a:rPr lang="en-US" altLang="en-US" sz="2800"/>
              <a:t>New types of cooling concepts, “cool the servers, not the entire room”</a:t>
            </a:r>
          </a:p>
          <a:p>
            <a:pPr eaLnBrk="1" hangingPunct="1">
              <a:lnSpc>
                <a:spcPct val="80000"/>
              </a:lnSpc>
            </a:pPr>
            <a:r>
              <a:rPr lang="en-US" altLang="en-US" sz="2800"/>
              <a:t>Rear door heat exchangers.  Cools only the servers and not surrounding room air. Most efficient. </a:t>
            </a:r>
          </a:p>
        </p:txBody>
      </p:sp>
      <p:pic>
        <p:nvPicPr>
          <p:cNvPr id="9220" name="Picture 5" descr="Office Pro"/>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15000" y="990600"/>
            <a:ext cx="2971800" cy="297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221" name="Picture 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43600" y="4114800"/>
            <a:ext cx="2933700" cy="2619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p:txBody>
          <a:bodyPr/>
          <a:lstStyle/>
          <a:p>
            <a:pPr eaLnBrk="1" hangingPunct="1"/>
            <a:r>
              <a:rPr lang="en-US" altLang="en-US" sz="4000"/>
              <a:t>Large Data Center Air Conditioner and Rear Door Heat Exchanger</a:t>
            </a:r>
          </a:p>
        </p:txBody>
      </p:sp>
      <p:pic>
        <p:nvPicPr>
          <p:cNvPr id="10243"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86200" y="2209800"/>
            <a:ext cx="5029200" cy="3771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44" name="Picture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1000" y="2209800"/>
            <a:ext cx="3048000" cy="3762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p:txBody>
          <a:bodyPr/>
          <a:lstStyle/>
          <a:p>
            <a:pPr eaLnBrk="1" hangingPunct="1"/>
            <a:r>
              <a:rPr lang="en-US" altLang="en-US"/>
              <a:t>Hot and Cold Isles and Humidity</a:t>
            </a:r>
          </a:p>
        </p:txBody>
      </p:sp>
      <p:sp>
        <p:nvSpPr>
          <p:cNvPr id="11267" name="Rectangle 3"/>
          <p:cNvSpPr>
            <a:spLocks noGrp="1" noChangeArrowheads="1"/>
          </p:cNvSpPr>
          <p:nvPr>
            <p:ph type="body" idx="1"/>
          </p:nvPr>
        </p:nvSpPr>
        <p:spPr>
          <a:xfrm>
            <a:off x="457200" y="1600200"/>
            <a:ext cx="4343400" cy="4525963"/>
          </a:xfrm>
        </p:spPr>
        <p:txBody>
          <a:bodyPr/>
          <a:lstStyle/>
          <a:p>
            <a:pPr eaLnBrk="1" hangingPunct="1">
              <a:lnSpc>
                <a:spcPct val="90000"/>
              </a:lnSpc>
            </a:pPr>
            <a:r>
              <a:rPr lang="en-US" altLang="en-US" sz="2000"/>
              <a:t>Cold air goes in front of rack, heated by server, exited out back.</a:t>
            </a:r>
          </a:p>
          <a:p>
            <a:pPr eaLnBrk="1" hangingPunct="1">
              <a:lnSpc>
                <a:spcPct val="90000"/>
              </a:lnSpc>
            </a:pPr>
            <a:r>
              <a:rPr lang="en-US" altLang="en-US" sz="2000"/>
              <a:t>Arrange your data center so the backs of the racks are towards each other.  This forms hot and cold isles.</a:t>
            </a:r>
          </a:p>
          <a:p>
            <a:pPr eaLnBrk="1" hangingPunct="1">
              <a:lnSpc>
                <a:spcPct val="90000"/>
              </a:lnSpc>
            </a:pPr>
            <a:r>
              <a:rPr lang="en-US" altLang="en-US" sz="2000"/>
              <a:t>Easier to collect the hot air.  Heat rises.</a:t>
            </a:r>
          </a:p>
          <a:p>
            <a:pPr eaLnBrk="1" hangingPunct="1">
              <a:lnSpc>
                <a:spcPct val="90000"/>
              </a:lnSpc>
            </a:pPr>
            <a:r>
              <a:rPr lang="en-US" altLang="en-US" sz="2000"/>
              <a:t>Keep server room humidity between 45% - 55%.  Too low, static, too high, condensation.</a:t>
            </a:r>
          </a:p>
          <a:p>
            <a:pPr eaLnBrk="1" hangingPunct="1">
              <a:lnSpc>
                <a:spcPct val="90000"/>
              </a:lnSpc>
            </a:pPr>
            <a:endParaRPr lang="en-US" altLang="en-US" sz="2800"/>
          </a:p>
        </p:txBody>
      </p:sp>
      <p:pic>
        <p:nvPicPr>
          <p:cNvPr id="11268"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53000" y="1676400"/>
            <a:ext cx="3914775" cy="2071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269" name="Picture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00600" y="3886200"/>
            <a:ext cx="4171950" cy="2517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270" name="AutoShape 9" descr="Data Graph"/>
          <p:cNvSpPr>
            <a:spLocks noChangeAspect="1" noChangeArrowheads="1"/>
          </p:cNvSpPr>
          <p:nvPr/>
        </p:nvSpPr>
        <p:spPr bwMode="auto">
          <a:xfrm>
            <a:off x="2667000" y="2238375"/>
            <a:ext cx="3810000" cy="2381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PH" altLang="en-US"/>
          </a:p>
        </p:txBody>
      </p:sp>
      <p:pic>
        <p:nvPicPr>
          <p:cNvPr id="11271" name="Picture 1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2000" y="4953000"/>
            <a:ext cx="3581400" cy="167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p:txBody>
          <a:bodyPr/>
          <a:lstStyle/>
          <a:p>
            <a:pPr eaLnBrk="1" hangingPunct="1"/>
            <a:r>
              <a:rPr lang="en-US" altLang="en-US"/>
              <a:t>Power</a:t>
            </a:r>
          </a:p>
        </p:txBody>
      </p:sp>
      <p:sp>
        <p:nvSpPr>
          <p:cNvPr id="12291" name="Rectangle 3"/>
          <p:cNvSpPr>
            <a:spLocks noGrp="1" noChangeArrowheads="1"/>
          </p:cNvSpPr>
          <p:nvPr>
            <p:ph type="body" idx="1"/>
          </p:nvPr>
        </p:nvSpPr>
        <p:spPr>
          <a:xfrm>
            <a:off x="457200" y="1600200"/>
            <a:ext cx="5105400" cy="4983163"/>
          </a:xfrm>
        </p:spPr>
        <p:txBody>
          <a:bodyPr/>
          <a:lstStyle/>
          <a:p>
            <a:pPr eaLnBrk="1" hangingPunct="1">
              <a:lnSpc>
                <a:spcPct val="90000"/>
              </a:lnSpc>
            </a:pPr>
            <a:r>
              <a:rPr lang="en-US" altLang="en-US" sz="2400"/>
              <a:t>Multiple sources of electricity.  </a:t>
            </a:r>
          </a:p>
          <a:p>
            <a:pPr lvl="1" eaLnBrk="1" hangingPunct="1">
              <a:lnSpc>
                <a:spcPct val="90000"/>
              </a:lnSpc>
            </a:pPr>
            <a:r>
              <a:rPr lang="en-US" altLang="en-US" sz="2000"/>
              <a:t>Multiple feeds from multiple substations.</a:t>
            </a:r>
          </a:p>
          <a:p>
            <a:pPr lvl="1" eaLnBrk="1" hangingPunct="1">
              <a:lnSpc>
                <a:spcPct val="90000"/>
              </a:lnSpc>
            </a:pPr>
            <a:r>
              <a:rPr lang="en-US" altLang="en-US" sz="2000"/>
              <a:t>Generator, not only for emergencies but also for normal operations.</a:t>
            </a:r>
          </a:p>
          <a:p>
            <a:pPr lvl="1" eaLnBrk="1" hangingPunct="1">
              <a:lnSpc>
                <a:spcPct val="90000"/>
              </a:lnSpc>
            </a:pPr>
            <a:r>
              <a:rPr lang="en-US" altLang="en-US" sz="2000"/>
              <a:t>What type of power does it produce, do you need? 110V, 220V, 480V?</a:t>
            </a:r>
          </a:p>
          <a:p>
            <a:pPr lvl="1" eaLnBrk="1" hangingPunct="1">
              <a:lnSpc>
                <a:spcPct val="90000"/>
              </a:lnSpc>
            </a:pPr>
            <a:endParaRPr lang="en-US" altLang="en-US" sz="2000">
              <a:solidFill>
                <a:srgbClr val="009900"/>
              </a:solidFill>
            </a:endParaRPr>
          </a:p>
        </p:txBody>
      </p:sp>
      <p:pic>
        <p:nvPicPr>
          <p:cNvPr id="12292"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62600" y="3352800"/>
            <a:ext cx="3429000" cy="342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293" name="Picture 1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34025" y="1371600"/>
            <a:ext cx="2924175" cy="219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p:txBody>
          <a:bodyPr/>
          <a:lstStyle/>
          <a:p>
            <a:pPr eaLnBrk="1" hangingPunct="1"/>
            <a:r>
              <a:rPr lang="en-US" altLang="en-US"/>
              <a:t>Power</a:t>
            </a:r>
          </a:p>
        </p:txBody>
      </p:sp>
      <p:sp>
        <p:nvSpPr>
          <p:cNvPr id="13315" name="Rectangle 3"/>
          <p:cNvSpPr>
            <a:spLocks noGrp="1" noChangeArrowheads="1"/>
          </p:cNvSpPr>
          <p:nvPr>
            <p:ph type="body" idx="1"/>
          </p:nvPr>
        </p:nvSpPr>
        <p:spPr>
          <a:xfrm>
            <a:off x="457200" y="1600200"/>
            <a:ext cx="5105400" cy="4525963"/>
          </a:xfrm>
        </p:spPr>
        <p:txBody>
          <a:bodyPr/>
          <a:lstStyle/>
          <a:p>
            <a:pPr eaLnBrk="1" hangingPunct="1">
              <a:lnSpc>
                <a:spcPct val="90000"/>
              </a:lnSpc>
            </a:pPr>
            <a:r>
              <a:rPr lang="en-US" altLang="en-US" sz="2400"/>
              <a:t>Do you have a Uninterruptable power supply (UPS)? How big?</a:t>
            </a:r>
          </a:p>
          <a:p>
            <a:pPr eaLnBrk="1" hangingPunct="1">
              <a:lnSpc>
                <a:spcPct val="90000"/>
              </a:lnSpc>
            </a:pPr>
            <a:r>
              <a:rPr lang="en-US" altLang="en-US" sz="2400"/>
              <a:t>How long does it need to last, 10 minutes, 1 hour, 4 hours?  </a:t>
            </a:r>
          </a:p>
          <a:p>
            <a:pPr eaLnBrk="1" hangingPunct="1">
              <a:lnSpc>
                <a:spcPct val="90000"/>
              </a:lnSpc>
            </a:pPr>
            <a:r>
              <a:rPr lang="en-US" altLang="en-US" sz="2400"/>
              <a:t>Varies depending if you have a generator or not. </a:t>
            </a:r>
          </a:p>
          <a:p>
            <a:pPr eaLnBrk="1" hangingPunct="1">
              <a:lnSpc>
                <a:spcPct val="90000"/>
              </a:lnSpc>
            </a:pPr>
            <a:r>
              <a:rPr lang="en-US" altLang="en-US" sz="2400"/>
              <a:t>Do you have automatic transfer switches, (ATM)?</a:t>
            </a:r>
          </a:p>
          <a:p>
            <a:pPr lvl="1" eaLnBrk="1" hangingPunct="1">
              <a:lnSpc>
                <a:spcPct val="90000"/>
              </a:lnSpc>
            </a:pPr>
            <a:r>
              <a:rPr lang="en-US" altLang="en-US" sz="2000"/>
              <a:t>Switches that ‘sense’ if line power or in Syracuse, National Grid power if present, and if not, automatically starts generator and transfers load.  When line power returns, shuts off generator and returns load to line power</a:t>
            </a:r>
            <a:r>
              <a:rPr lang="en-US" altLang="en-US" sz="1800"/>
              <a:t>.</a:t>
            </a:r>
          </a:p>
        </p:txBody>
      </p:sp>
      <p:pic>
        <p:nvPicPr>
          <p:cNvPr id="13316"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62600" y="1219200"/>
            <a:ext cx="2940050" cy="3090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317" name="Picture 9" descr="Transfer Switche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38800" y="4348163"/>
            <a:ext cx="3076575" cy="2662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p:txBody>
          <a:bodyPr/>
          <a:lstStyle/>
          <a:p>
            <a:pPr eaLnBrk="1" hangingPunct="1"/>
            <a:r>
              <a:rPr lang="en-US" altLang="en-US"/>
              <a:t>Power Distribution Unit (PDU)</a:t>
            </a:r>
          </a:p>
        </p:txBody>
      </p:sp>
      <p:sp>
        <p:nvSpPr>
          <p:cNvPr id="14339" name="Rectangle 3"/>
          <p:cNvSpPr>
            <a:spLocks noGrp="1" noChangeArrowheads="1"/>
          </p:cNvSpPr>
          <p:nvPr>
            <p:ph type="body" idx="1"/>
          </p:nvPr>
        </p:nvSpPr>
        <p:spPr>
          <a:xfrm>
            <a:off x="457200" y="1600200"/>
            <a:ext cx="7010400" cy="3505200"/>
          </a:xfrm>
        </p:spPr>
        <p:txBody>
          <a:bodyPr/>
          <a:lstStyle/>
          <a:p>
            <a:pPr eaLnBrk="1" hangingPunct="1"/>
            <a:r>
              <a:rPr lang="en-US" altLang="en-US" sz="2000"/>
              <a:t>Looks like a power strip, much more.</a:t>
            </a:r>
          </a:p>
          <a:p>
            <a:pPr eaLnBrk="1" hangingPunct="1"/>
            <a:r>
              <a:rPr lang="en-US" altLang="en-US" sz="2000"/>
              <a:t>Can be horizontally or virtually mounted</a:t>
            </a:r>
          </a:p>
          <a:p>
            <a:pPr eaLnBrk="1" hangingPunct="1"/>
            <a:r>
              <a:rPr lang="en-US" altLang="en-US" sz="2000"/>
              <a:t>Monitor, record, and control each outlet remotely via network.</a:t>
            </a:r>
          </a:p>
          <a:p>
            <a:pPr eaLnBrk="1" hangingPunct="1"/>
            <a:r>
              <a:rPr lang="en-US" altLang="en-US" sz="2000"/>
              <a:t>Should have two per server, one connected to line power and one connected to UPS / Generator power</a:t>
            </a:r>
          </a:p>
          <a:p>
            <a:pPr eaLnBrk="1" hangingPunct="1"/>
            <a:endParaRPr lang="en-US" altLang="en-US" sz="2000"/>
          </a:p>
        </p:txBody>
      </p:sp>
      <p:pic>
        <p:nvPicPr>
          <p:cNvPr id="14340"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95400" y="4038600"/>
            <a:ext cx="6553200" cy="2605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a:xfrm>
            <a:off x="457200" y="0"/>
            <a:ext cx="8229600" cy="1143000"/>
          </a:xfrm>
        </p:spPr>
        <p:txBody>
          <a:bodyPr/>
          <a:lstStyle/>
          <a:p>
            <a:pPr eaLnBrk="1" hangingPunct="1"/>
            <a:r>
              <a:rPr lang="en-US" altLang="en-US"/>
              <a:t>Monitor your Power</a:t>
            </a:r>
          </a:p>
        </p:txBody>
      </p:sp>
      <p:pic>
        <p:nvPicPr>
          <p:cNvPr id="15363"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000" y="914400"/>
            <a:ext cx="3733800" cy="2776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364"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91200" y="990600"/>
            <a:ext cx="3057525" cy="2762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365" name="Picture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47800" y="3810000"/>
            <a:ext cx="6494463" cy="2925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p:txBody>
          <a:bodyPr/>
          <a:lstStyle/>
          <a:p>
            <a:pPr eaLnBrk="1" hangingPunct="1"/>
            <a:r>
              <a:rPr lang="en-US" altLang="en-US"/>
              <a:t>Fire Suppression</a:t>
            </a:r>
          </a:p>
        </p:txBody>
      </p:sp>
      <p:sp>
        <p:nvSpPr>
          <p:cNvPr id="16387" name="Rectangle 3"/>
          <p:cNvSpPr>
            <a:spLocks noGrp="1" noChangeArrowheads="1"/>
          </p:cNvSpPr>
          <p:nvPr>
            <p:ph type="body" idx="1"/>
          </p:nvPr>
        </p:nvSpPr>
        <p:spPr>
          <a:xfrm>
            <a:off x="609600" y="1219200"/>
            <a:ext cx="5715000" cy="5638800"/>
          </a:xfrm>
        </p:spPr>
        <p:txBody>
          <a:bodyPr/>
          <a:lstStyle/>
          <a:p>
            <a:pPr eaLnBrk="1" hangingPunct="1"/>
            <a:r>
              <a:rPr lang="en-US" altLang="en-US"/>
              <a:t>Require Fire suppression methods, required by law /code</a:t>
            </a:r>
          </a:p>
          <a:p>
            <a:pPr eaLnBrk="1" hangingPunct="1"/>
            <a:r>
              <a:rPr lang="en-US" altLang="en-US"/>
              <a:t>Conventional (Water and Sprinklers) = Bad</a:t>
            </a:r>
          </a:p>
          <a:p>
            <a:pPr eaLnBrk="1" hangingPunct="1"/>
            <a:r>
              <a:rPr lang="en-US" altLang="en-US"/>
              <a:t>Many other methods</a:t>
            </a:r>
          </a:p>
          <a:p>
            <a:pPr lvl="1" eaLnBrk="1" hangingPunct="1"/>
            <a:r>
              <a:rPr lang="en-US" altLang="en-US"/>
              <a:t>CO2, good for servers, bad for people</a:t>
            </a:r>
          </a:p>
          <a:p>
            <a:pPr lvl="1" eaLnBrk="1" hangingPunct="1"/>
            <a:r>
              <a:rPr lang="en-US" altLang="en-US"/>
              <a:t>Conventional extinguishers </a:t>
            </a:r>
          </a:p>
          <a:p>
            <a:pPr lvl="1" eaLnBrk="1" hangingPunct="1"/>
            <a:r>
              <a:rPr lang="en-US" altLang="en-US"/>
              <a:t>Consult local fire authorities</a:t>
            </a:r>
          </a:p>
          <a:p>
            <a:pPr lvl="1" eaLnBrk="1" hangingPunct="1"/>
            <a:endParaRPr lang="en-US" altLang="en-US"/>
          </a:p>
          <a:p>
            <a:pPr lvl="1" eaLnBrk="1" hangingPunct="1"/>
            <a:endParaRPr lang="en-US" altLang="en-US"/>
          </a:p>
        </p:txBody>
      </p:sp>
      <p:pic>
        <p:nvPicPr>
          <p:cNvPr id="16388" name="Picture 5" descr="Halotron I Fire Extinguisher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72200" y="1295400"/>
            <a:ext cx="2381250" cy="2381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389" name="Picture 7"/>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943600" y="3657600"/>
            <a:ext cx="2971800" cy="2228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p:txBody>
          <a:bodyPr/>
          <a:lstStyle/>
          <a:p>
            <a:pPr eaLnBrk="1" hangingPunct="1"/>
            <a:r>
              <a:rPr lang="en-US" altLang="en-US"/>
              <a:t>Racks</a:t>
            </a:r>
          </a:p>
        </p:txBody>
      </p:sp>
      <p:sp>
        <p:nvSpPr>
          <p:cNvPr id="17411" name="Rectangle 3"/>
          <p:cNvSpPr>
            <a:spLocks noGrp="1" noChangeArrowheads="1"/>
          </p:cNvSpPr>
          <p:nvPr>
            <p:ph type="body" idx="1"/>
          </p:nvPr>
        </p:nvSpPr>
        <p:spPr>
          <a:xfrm>
            <a:off x="152400" y="1371600"/>
            <a:ext cx="5029200" cy="5486400"/>
          </a:xfrm>
        </p:spPr>
        <p:txBody>
          <a:bodyPr/>
          <a:lstStyle/>
          <a:p>
            <a:pPr eaLnBrk="1" hangingPunct="1">
              <a:lnSpc>
                <a:spcPct val="80000"/>
              </a:lnSpc>
            </a:pPr>
            <a:r>
              <a:rPr lang="en-US" altLang="en-US" sz="1800"/>
              <a:t>The ‘spine’ of the data center</a:t>
            </a:r>
          </a:p>
          <a:p>
            <a:pPr eaLnBrk="1" hangingPunct="1">
              <a:lnSpc>
                <a:spcPct val="80000"/>
              </a:lnSpc>
            </a:pPr>
            <a:r>
              <a:rPr lang="en-US" altLang="en-US" sz="1800"/>
              <a:t>Dictate other components</a:t>
            </a:r>
          </a:p>
          <a:p>
            <a:pPr lvl="1" eaLnBrk="1" hangingPunct="1">
              <a:lnSpc>
                <a:spcPct val="80000"/>
              </a:lnSpc>
            </a:pPr>
            <a:r>
              <a:rPr lang="en-US" altLang="en-US" sz="1600"/>
              <a:t>Wiring, cooling, power, etc</a:t>
            </a:r>
          </a:p>
          <a:p>
            <a:pPr lvl="1" eaLnBrk="1" hangingPunct="1">
              <a:lnSpc>
                <a:spcPct val="80000"/>
              </a:lnSpc>
            </a:pPr>
            <a:r>
              <a:rPr lang="en-US" altLang="en-US" sz="1600"/>
              <a:t>Not inexpensive, up to $10,000 per rack with required products (power, cooling, networking, etc)</a:t>
            </a:r>
          </a:p>
          <a:p>
            <a:pPr eaLnBrk="1" hangingPunct="1">
              <a:lnSpc>
                <a:spcPct val="80000"/>
              </a:lnSpc>
            </a:pPr>
            <a:r>
              <a:rPr lang="en-US" altLang="en-US" sz="1800"/>
              <a:t>Standard 19” wide, width of standard mountable equipment.  19” between posts.</a:t>
            </a:r>
          </a:p>
          <a:p>
            <a:pPr eaLnBrk="1" hangingPunct="1">
              <a:lnSpc>
                <a:spcPct val="80000"/>
              </a:lnSpc>
            </a:pPr>
            <a:r>
              <a:rPr lang="en-US" altLang="en-US" sz="1800"/>
              <a:t>Some telecomm equipment is wider.  Special order racks available or equipment comes with these racks already.</a:t>
            </a:r>
          </a:p>
          <a:p>
            <a:pPr eaLnBrk="1" hangingPunct="1">
              <a:lnSpc>
                <a:spcPct val="80000"/>
              </a:lnSpc>
            </a:pPr>
            <a:r>
              <a:rPr lang="en-US" altLang="en-US" sz="1800"/>
              <a:t>May purchase racks wider and deeper than your needs as to leave room for networking, power, cooling, etc.</a:t>
            </a:r>
          </a:p>
          <a:p>
            <a:pPr eaLnBrk="1" hangingPunct="1">
              <a:lnSpc>
                <a:spcPct val="80000"/>
              </a:lnSpc>
            </a:pPr>
            <a:r>
              <a:rPr lang="en-US" altLang="en-US" sz="1800"/>
              <a:t>2 or 4 posts</a:t>
            </a:r>
          </a:p>
          <a:p>
            <a:pPr lvl="1" eaLnBrk="1" hangingPunct="1">
              <a:lnSpc>
                <a:spcPct val="80000"/>
              </a:lnSpc>
            </a:pPr>
            <a:r>
              <a:rPr lang="en-US" altLang="en-US" sz="1600"/>
              <a:t>4 is better but more expensive. </a:t>
            </a:r>
          </a:p>
          <a:p>
            <a:pPr eaLnBrk="1" hangingPunct="1">
              <a:lnSpc>
                <a:spcPct val="80000"/>
              </a:lnSpc>
            </a:pPr>
            <a:r>
              <a:rPr lang="en-US" altLang="en-US" sz="1800"/>
              <a:t>Rack equipment in U’s or rack units,</a:t>
            </a:r>
          </a:p>
          <a:p>
            <a:pPr lvl="1" eaLnBrk="1" hangingPunct="1">
              <a:lnSpc>
                <a:spcPct val="80000"/>
              </a:lnSpc>
            </a:pPr>
            <a:r>
              <a:rPr lang="en-US" altLang="en-US" sz="1600"/>
              <a:t>1.75 inches per “U”</a:t>
            </a:r>
          </a:p>
          <a:p>
            <a:pPr lvl="1" eaLnBrk="1" hangingPunct="1">
              <a:lnSpc>
                <a:spcPct val="80000"/>
              </a:lnSpc>
            </a:pPr>
            <a:r>
              <a:rPr lang="en-US" altLang="en-US" sz="1600"/>
              <a:t>Can use square nuts or screws to mount equipment</a:t>
            </a:r>
          </a:p>
          <a:p>
            <a:pPr lvl="1" eaLnBrk="1" hangingPunct="1">
              <a:lnSpc>
                <a:spcPct val="80000"/>
              </a:lnSpc>
            </a:pPr>
            <a:endParaRPr lang="en-US" altLang="en-US" sz="1600"/>
          </a:p>
          <a:p>
            <a:pPr lvl="1" eaLnBrk="1" hangingPunct="1">
              <a:lnSpc>
                <a:spcPct val="80000"/>
              </a:lnSpc>
              <a:buFontTx/>
              <a:buNone/>
            </a:pPr>
            <a:r>
              <a:rPr lang="en-US" altLang="en-US" sz="1600"/>
              <a:t> </a:t>
            </a:r>
          </a:p>
          <a:p>
            <a:pPr lvl="1" eaLnBrk="1" hangingPunct="1">
              <a:lnSpc>
                <a:spcPct val="80000"/>
              </a:lnSpc>
            </a:pPr>
            <a:endParaRPr lang="en-US" altLang="en-US" sz="1600"/>
          </a:p>
        </p:txBody>
      </p:sp>
      <p:pic>
        <p:nvPicPr>
          <p:cNvPr id="17412"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4000" y="1524000"/>
            <a:ext cx="3467100" cy="2360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413" name="Picture 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10200" y="4114800"/>
            <a:ext cx="3390900" cy="2524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p:txBody>
          <a:bodyPr/>
          <a:lstStyle/>
          <a:p>
            <a:pPr eaLnBrk="1" hangingPunct="1"/>
            <a:r>
              <a:rPr lang="en-US" altLang="en-US"/>
              <a:t>Rack Cooling</a:t>
            </a:r>
          </a:p>
        </p:txBody>
      </p:sp>
      <p:sp>
        <p:nvSpPr>
          <p:cNvPr id="18435" name="Rectangle 3"/>
          <p:cNvSpPr>
            <a:spLocks noGrp="1" noChangeArrowheads="1"/>
          </p:cNvSpPr>
          <p:nvPr>
            <p:ph type="body" idx="1"/>
          </p:nvPr>
        </p:nvSpPr>
        <p:spPr>
          <a:xfrm>
            <a:off x="457200" y="1600200"/>
            <a:ext cx="4800600" cy="4525963"/>
          </a:xfrm>
        </p:spPr>
        <p:txBody>
          <a:bodyPr/>
          <a:lstStyle/>
          <a:p>
            <a:pPr eaLnBrk="1" hangingPunct="1">
              <a:lnSpc>
                <a:spcPct val="80000"/>
              </a:lnSpc>
            </a:pPr>
            <a:r>
              <a:rPr lang="en-US" altLang="en-US" sz="2000"/>
              <a:t>Racks are typically open at the bottom to allow cool air to flow in.</a:t>
            </a:r>
          </a:p>
          <a:p>
            <a:pPr eaLnBrk="1" hangingPunct="1">
              <a:lnSpc>
                <a:spcPct val="80000"/>
              </a:lnSpc>
            </a:pPr>
            <a:r>
              <a:rPr lang="en-US" altLang="en-US" sz="2000"/>
              <a:t>Heat rises exits out the back</a:t>
            </a:r>
          </a:p>
          <a:p>
            <a:pPr eaLnBrk="1" hangingPunct="1">
              <a:lnSpc>
                <a:spcPct val="80000"/>
              </a:lnSpc>
            </a:pPr>
            <a:r>
              <a:rPr lang="en-US" altLang="en-US" sz="2000"/>
              <a:t>Not a location to run wires.  Run cabling overhead with above-the-racks wire trays</a:t>
            </a:r>
          </a:p>
          <a:p>
            <a:pPr eaLnBrk="1" hangingPunct="1">
              <a:lnSpc>
                <a:spcPct val="80000"/>
              </a:lnSpc>
            </a:pPr>
            <a:r>
              <a:rPr lang="en-US" altLang="en-US" sz="2000"/>
              <a:t>If keep doors and sides on if using raised floor, off it using standard air-conditioning</a:t>
            </a:r>
          </a:p>
          <a:p>
            <a:pPr eaLnBrk="1" hangingPunct="1">
              <a:lnSpc>
                <a:spcPct val="80000"/>
              </a:lnSpc>
            </a:pPr>
            <a:r>
              <a:rPr lang="en-US" altLang="en-US" sz="2000"/>
              <a:t>Monitor temperature inside racks</a:t>
            </a:r>
          </a:p>
          <a:p>
            <a:pPr eaLnBrk="1" hangingPunct="1">
              <a:lnSpc>
                <a:spcPct val="80000"/>
              </a:lnSpc>
            </a:pPr>
            <a:r>
              <a:rPr lang="en-US" altLang="en-US" sz="2000"/>
              <a:t>We use device called “Weather Goose”</a:t>
            </a:r>
          </a:p>
        </p:txBody>
      </p:sp>
      <p:pic>
        <p:nvPicPr>
          <p:cNvPr id="18436" name="Picture 5"/>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553200" y="1143000"/>
            <a:ext cx="2362200" cy="1771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437" name="Picture 7" descr="WeatherGoose II Climate Monito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28800" y="5105400"/>
            <a:ext cx="3200400" cy="1398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438" name="Line 8"/>
          <p:cNvSpPr>
            <a:spLocks noChangeShapeType="1"/>
          </p:cNvSpPr>
          <p:nvPr/>
        </p:nvSpPr>
        <p:spPr bwMode="auto">
          <a:xfrm>
            <a:off x="1905000" y="4800600"/>
            <a:ext cx="457200" cy="457200"/>
          </a:xfrm>
          <a:prstGeom prst="line">
            <a:avLst/>
          </a:prstGeom>
          <a:noFill/>
          <a:ln w="38100">
            <a:solidFill>
              <a:srgbClr val="FF33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PH"/>
          </a:p>
        </p:txBody>
      </p:sp>
      <p:pic>
        <p:nvPicPr>
          <p:cNvPr id="18439" name="Picture 9"/>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553200" y="2971800"/>
            <a:ext cx="2362200" cy="1781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440" name="Picture 10"/>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477000" y="4800600"/>
            <a:ext cx="2405063" cy="1714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p:txBody>
          <a:bodyPr/>
          <a:lstStyle/>
          <a:p>
            <a:pPr eaLnBrk="1" hangingPunct="1"/>
            <a:r>
              <a:rPr lang="en-US" altLang="en-US" sz="4000"/>
              <a:t>Racks Determine Cable Management</a:t>
            </a:r>
          </a:p>
        </p:txBody>
      </p:sp>
      <p:sp>
        <p:nvSpPr>
          <p:cNvPr id="19459" name="Rectangle 3"/>
          <p:cNvSpPr>
            <a:spLocks noGrp="1" noChangeArrowheads="1"/>
          </p:cNvSpPr>
          <p:nvPr>
            <p:ph type="body" idx="1"/>
          </p:nvPr>
        </p:nvSpPr>
        <p:spPr>
          <a:xfrm>
            <a:off x="457200" y="1600200"/>
            <a:ext cx="4953000" cy="5257800"/>
          </a:xfrm>
        </p:spPr>
        <p:txBody>
          <a:bodyPr/>
          <a:lstStyle/>
          <a:p>
            <a:pPr eaLnBrk="1" hangingPunct="1">
              <a:lnSpc>
                <a:spcPct val="90000"/>
              </a:lnSpc>
            </a:pPr>
            <a:r>
              <a:rPr lang="en-US" altLang="en-US" sz="2400"/>
              <a:t>A good cabling job is a pleasure to work with. </a:t>
            </a:r>
          </a:p>
          <a:p>
            <a:pPr eaLnBrk="1" hangingPunct="1">
              <a:lnSpc>
                <a:spcPct val="90000"/>
              </a:lnSpc>
            </a:pPr>
            <a:r>
              <a:rPr lang="en-US" altLang="en-US" sz="2400"/>
              <a:t>Don’t ‘build-your-own’ cables. Purchase cat6 or category 6 cables.</a:t>
            </a:r>
          </a:p>
          <a:p>
            <a:pPr eaLnBrk="1" hangingPunct="1">
              <a:lnSpc>
                <a:spcPct val="90000"/>
              </a:lnSpc>
            </a:pPr>
            <a:r>
              <a:rPr lang="en-US" altLang="en-US" sz="2400"/>
              <a:t>Purchase special cable management products.</a:t>
            </a:r>
          </a:p>
          <a:p>
            <a:pPr eaLnBrk="1" hangingPunct="1">
              <a:lnSpc>
                <a:spcPct val="90000"/>
              </a:lnSpc>
            </a:pPr>
            <a:r>
              <a:rPr lang="en-US" altLang="en-US" sz="2400"/>
              <a:t>Easily identify which cable connects to what.</a:t>
            </a:r>
          </a:p>
          <a:p>
            <a:pPr eaLnBrk="1" hangingPunct="1">
              <a:lnSpc>
                <a:spcPct val="90000"/>
              </a:lnSpc>
            </a:pPr>
            <a:r>
              <a:rPr lang="en-US" altLang="en-US" sz="2400"/>
              <a:t>Color code or label your cables</a:t>
            </a:r>
          </a:p>
          <a:p>
            <a:pPr eaLnBrk="1" hangingPunct="1">
              <a:lnSpc>
                <a:spcPct val="90000"/>
              </a:lnSpc>
            </a:pPr>
            <a:r>
              <a:rPr lang="en-US" altLang="en-US" sz="2400"/>
              <a:t>Separate power from network cables.  Power down one side, network cables down the other</a:t>
            </a:r>
          </a:p>
        </p:txBody>
      </p:sp>
      <p:pic>
        <p:nvPicPr>
          <p:cNvPr id="19460"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86400" y="1371600"/>
            <a:ext cx="3352800" cy="25098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9461"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86400" y="3962400"/>
            <a:ext cx="3371850" cy="2528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p:txBody>
          <a:bodyPr/>
          <a:lstStyle/>
          <a:p>
            <a:pPr eaLnBrk="1" hangingPunct="1"/>
            <a:r>
              <a:rPr lang="en-US" altLang="en-US"/>
              <a:t>Cable Management Images</a:t>
            </a:r>
          </a:p>
        </p:txBody>
      </p:sp>
      <p:pic>
        <p:nvPicPr>
          <p:cNvPr id="20483"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19800" y="1447800"/>
            <a:ext cx="2838450" cy="457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484"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 y="1371600"/>
            <a:ext cx="5878513" cy="1481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485" name="Picture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2400" y="2971800"/>
            <a:ext cx="5819775" cy="2128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a:xfrm>
            <a:off x="457200" y="0"/>
            <a:ext cx="8229600" cy="1143000"/>
          </a:xfrm>
        </p:spPr>
        <p:txBody>
          <a:bodyPr/>
          <a:lstStyle/>
          <a:p>
            <a:pPr eaLnBrk="1" hangingPunct="1"/>
            <a:r>
              <a:rPr lang="en-US" altLang="en-US"/>
              <a:t>Our Guidelines</a:t>
            </a:r>
          </a:p>
        </p:txBody>
      </p:sp>
      <p:pic>
        <p:nvPicPr>
          <p:cNvPr id="21507"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42963" y="960438"/>
            <a:ext cx="7767637" cy="5684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p:txBody>
          <a:bodyPr/>
          <a:lstStyle/>
          <a:p>
            <a:pPr eaLnBrk="1" hangingPunct="1"/>
            <a:r>
              <a:rPr lang="en-US" altLang="en-US"/>
              <a:t>Communications</a:t>
            </a:r>
          </a:p>
        </p:txBody>
      </p:sp>
      <p:sp>
        <p:nvSpPr>
          <p:cNvPr id="22531" name="Rectangle 3"/>
          <p:cNvSpPr>
            <a:spLocks noGrp="1" noChangeArrowheads="1"/>
          </p:cNvSpPr>
          <p:nvPr>
            <p:ph type="body" idx="1"/>
          </p:nvPr>
        </p:nvSpPr>
        <p:spPr/>
        <p:txBody>
          <a:bodyPr/>
          <a:lstStyle/>
          <a:p>
            <a:pPr eaLnBrk="1" hangingPunct="1">
              <a:lnSpc>
                <a:spcPct val="90000"/>
              </a:lnSpc>
            </a:pPr>
            <a:r>
              <a:rPr lang="en-US" altLang="en-US"/>
              <a:t>Put a telephone in your server room incase you need to call someone in for assistance or be speaking with a vendor while standing in front of the server.</a:t>
            </a:r>
          </a:p>
          <a:p>
            <a:pPr eaLnBrk="1" hangingPunct="1">
              <a:lnSpc>
                <a:spcPct val="90000"/>
              </a:lnSpc>
            </a:pPr>
            <a:r>
              <a:rPr lang="en-US" altLang="en-US"/>
              <a:t>“Bridge” the telephone line into a infrequently used circuit to save money.</a:t>
            </a:r>
          </a:p>
          <a:p>
            <a:pPr eaLnBrk="1" hangingPunct="1">
              <a:lnSpc>
                <a:spcPct val="90000"/>
              </a:lnSpc>
            </a:pPr>
            <a:r>
              <a:rPr lang="en-US" altLang="en-US"/>
              <a:t>Don’t rely on cell phones.  Can be difficult to hear plus more interference in server room.</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pPr eaLnBrk="1" hangingPunct="1"/>
            <a:r>
              <a:rPr lang="en-US" altLang="en-US"/>
              <a:t>Console Access</a:t>
            </a:r>
          </a:p>
        </p:txBody>
      </p:sp>
      <p:sp>
        <p:nvSpPr>
          <p:cNvPr id="23555" name="Rectangle 3"/>
          <p:cNvSpPr>
            <a:spLocks noGrp="1" noChangeArrowheads="1"/>
          </p:cNvSpPr>
          <p:nvPr>
            <p:ph type="body" idx="1"/>
          </p:nvPr>
        </p:nvSpPr>
        <p:spPr>
          <a:xfrm>
            <a:off x="457200" y="1600200"/>
            <a:ext cx="4800600" cy="4525963"/>
          </a:xfrm>
        </p:spPr>
        <p:txBody>
          <a:bodyPr/>
          <a:lstStyle/>
          <a:p>
            <a:pPr eaLnBrk="1" hangingPunct="1">
              <a:lnSpc>
                <a:spcPct val="90000"/>
              </a:lnSpc>
            </a:pPr>
            <a:r>
              <a:rPr lang="en-US" altLang="en-US" sz="2400"/>
              <a:t>KVM usage</a:t>
            </a:r>
          </a:p>
          <a:p>
            <a:pPr lvl="1" eaLnBrk="1" hangingPunct="1">
              <a:lnSpc>
                <a:spcPct val="90000"/>
              </a:lnSpc>
            </a:pPr>
            <a:r>
              <a:rPr lang="en-PH" sz="1400"/>
              <a:t>A KVM switch is </a:t>
            </a:r>
            <a:r>
              <a:rPr lang="en-PH" sz="1400" i="1"/>
              <a:t>a hardware device that allows a user to control multiple computers from one or more sets of keyboards, video monitors, and mice</a:t>
            </a:r>
            <a:r>
              <a:rPr lang="en-PH" sz="1400"/>
              <a:t>.</a:t>
            </a:r>
            <a:endParaRPr lang="en-US" altLang="en-US" sz="2000"/>
          </a:p>
          <a:p>
            <a:pPr eaLnBrk="1" hangingPunct="1">
              <a:lnSpc>
                <a:spcPct val="90000"/>
              </a:lnSpc>
            </a:pPr>
            <a:r>
              <a:rPr lang="en-US" altLang="en-US" sz="2400"/>
              <a:t>If no KVM or out-of-band management, consider using a ‘crash cart’ or setup cart.</a:t>
            </a:r>
          </a:p>
          <a:p>
            <a:pPr lvl="1" eaLnBrk="1" hangingPunct="1">
              <a:lnSpc>
                <a:spcPct val="90000"/>
              </a:lnSpc>
            </a:pPr>
            <a:r>
              <a:rPr lang="en-US" altLang="en-US" sz="2000"/>
              <a:t>Basically a vertical cart with a keyboard, mouse, and monitor used when 1</a:t>
            </a:r>
            <a:r>
              <a:rPr lang="en-US" altLang="en-US" sz="2000" baseline="30000"/>
              <a:t>st</a:t>
            </a:r>
            <a:r>
              <a:rPr lang="en-US" altLang="en-US" sz="2000"/>
              <a:t> setting up servers or if they crash so bad you can’t use other management techniques</a:t>
            </a:r>
          </a:p>
        </p:txBody>
      </p:sp>
      <p:pic>
        <p:nvPicPr>
          <p:cNvPr id="23556"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91200" y="1371600"/>
            <a:ext cx="2541588" cy="464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lstStyle/>
          <a:p>
            <a:pPr eaLnBrk="1" hangingPunct="1"/>
            <a:r>
              <a:rPr lang="en-US" altLang="en-US"/>
              <a:t>Workbench, Tools, Parts</a:t>
            </a:r>
          </a:p>
        </p:txBody>
      </p:sp>
      <p:sp>
        <p:nvSpPr>
          <p:cNvPr id="24579" name="Rectangle 3"/>
          <p:cNvSpPr>
            <a:spLocks noGrp="1" noChangeArrowheads="1"/>
          </p:cNvSpPr>
          <p:nvPr>
            <p:ph type="body" idx="1"/>
          </p:nvPr>
        </p:nvSpPr>
        <p:spPr>
          <a:xfrm>
            <a:off x="457200" y="1600200"/>
            <a:ext cx="4343400" cy="4525963"/>
          </a:xfrm>
        </p:spPr>
        <p:txBody>
          <a:bodyPr/>
          <a:lstStyle/>
          <a:p>
            <a:pPr eaLnBrk="1" hangingPunct="1">
              <a:lnSpc>
                <a:spcPct val="90000"/>
              </a:lnSpc>
            </a:pPr>
            <a:r>
              <a:rPr lang="en-US" altLang="en-US" sz="2800"/>
              <a:t>Have a place where your staff can test out or ‘burn in’ a server before putting it into production.</a:t>
            </a:r>
          </a:p>
          <a:p>
            <a:pPr eaLnBrk="1" hangingPunct="1">
              <a:lnSpc>
                <a:spcPct val="90000"/>
              </a:lnSpc>
            </a:pPr>
            <a:r>
              <a:rPr lang="en-US" altLang="en-US" sz="2800"/>
              <a:t>Place to troubleshoot failed servers</a:t>
            </a:r>
          </a:p>
          <a:p>
            <a:pPr eaLnBrk="1" hangingPunct="1">
              <a:lnSpc>
                <a:spcPct val="90000"/>
              </a:lnSpc>
            </a:pPr>
            <a:r>
              <a:rPr lang="en-US" altLang="en-US" sz="2800"/>
              <a:t>Have extra patch cables, nuts, bolts, “spare parts” on hand.</a:t>
            </a:r>
          </a:p>
          <a:p>
            <a:pPr eaLnBrk="1" hangingPunct="1">
              <a:lnSpc>
                <a:spcPct val="90000"/>
              </a:lnSpc>
            </a:pPr>
            <a:endParaRPr lang="en-US" altLang="en-US" sz="2800"/>
          </a:p>
        </p:txBody>
      </p:sp>
      <p:pic>
        <p:nvPicPr>
          <p:cNvPr id="24580" name="Picture 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24400" y="1447800"/>
            <a:ext cx="4038600" cy="2693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581" name="Picture 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29200" y="4267200"/>
            <a:ext cx="3124200" cy="2343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p:txBody>
          <a:bodyPr/>
          <a:lstStyle/>
          <a:p>
            <a:pPr eaLnBrk="1" hangingPunct="1"/>
            <a:r>
              <a:rPr lang="en-US" altLang="en-US"/>
              <a:t>Summary</a:t>
            </a:r>
          </a:p>
        </p:txBody>
      </p:sp>
      <p:sp>
        <p:nvSpPr>
          <p:cNvPr id="25603" name="Rectangle 3"/>
          <p:cNvSpPr>
            <a:spLocks noGrp="1" noChangeArrowheads="1"/>
          </p:cNvSpPr>
          <p:nvPr>
            <p:ph type="body" idx="1"/>
          </p:nvPr>
        </p:nvSpPr>
        <p:spPr/>
        <p:txBody>
          <a:bodyPr/>
          <a:lstStyle/>
          <a:p>
            <a:pPr eaLnBrk="1" hangingPunct="1"/>
            <a:r>
              <a:rPr lang="en-US" altLang="en-US"/>
              <a:t>Data center is much more than a standard room or closet.</a:t>
            </a:r>
          </a:p>
          <a:p>
            <a:pPr eaLnBrk="1" hangingPunct="1"/>
            <a:r>
              <a:rPr lang="en-US" altLang="en-US"/>
              <a:t>Many things make a server room unique.</a:t>
            </a:r>
          </a:p>
          <a:p>
            <a:pPr eaLnBrk="1" hangingPunct="1"/>
            <a:r>
              <a:rPr lang="en-US" altLang="en-US"/>
              <a:t>Look for alternatives, outsource</a:t>
            </a:r>
          </a:p>
          <a:p>
            <a:pPr eaLnBrk="1" hangingPunct="1"/>
            <a:r>
              <a:rPr lang="en-US" altLang="en-US"/>
              <a:t>If you are going to build it, do it right the first time.</a:t>
            </a:r>
          </a:p>
          <a:p>
            <a:pPr eaLnBrk="1" hangingPunct="1"/>
            <a:endParaRPr lang="en-US" altLang="en-US"/>
          </a:p>
        </p:txBody>
      </p:sp>
    </p:spTree>
  </p:cSld>
  <p:clrMapOvr>
    <a:masterClrMapping/>
  </p:clrMapOvr>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3111</TotalTime>
  <Words>1317</Words>
  <Application>Microsoft Office PowerPoint</Application>
  <PresentationFormat>On-screen Show (4:3)</PresentationFormat>
  <Paragraphs>132</Paragraphs>
  <Slides>24</Slides>
  <Notes>0</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24</vt:i4>
      </vt:variant>
    </vt:vector>
  </HeadingPairs>
  <TitlesOfParts>
    <vt:vector size="26" baseType="lpstr">
      <vt:lpstr>Arial</vt:lpstr>
      <vt:lpstr>Default Design</vt:lpstr>
      <vt:lpstr>PowerPoint Presentation</vt:lpstr>
      <vt:lpstr>Data Centers</vt:lpstr>
      <vt:lpstr>Major Components to a Data Center</vt:lpstr>
      <vt:lpstr>Location</vt:lpstr>
      <vt:lpstr>Location</vt:lpstr>
      <vt:lpstr>Access</vt:lpstr>
      <vt:lpstr>Security</vt:lpstr>
      <vt:lpstr>Cooling</vt:lpstr>
      <vt:lpstr>Large Data Center Air Conditioner and Rear Door Heat Exchanger</vt:lpstr>
      <vt:lpstr>Hot and Cold Isles and Humidity</vt:lpstr>
      <vt:lpstr>Power</vt:lpstr>
      <vt:lpstr>Power</vt:lpstr>
      <vt:lpstr>Power Distribution Unit (PDU)</vt:lpstr>
      <vt:lpstr>Monitor your Power</vt:lpstr>
      <vt:lpstr>Fire Suppression</vt:lpstr>
      <vt:lpstr>Racks</vt:lpstr>
      <vt:lpstr>Rack Cooling</vt:lpstr>
      <vt:lpstr>Racks Determine Cable Management</vt:lpstr>
      <vt:lpstr>Cable Management Images</vt:lpstr>
      <vt:lpstr>Our Guidelines</vt:lpstr>
      <vt:lpstr>Communications</vt:lpstr>
      <vt:lpstr>Console Access</vt:lpstr>
      <vt:lpstr>Workbench, Tools, Parts</vt:lpstr>
      <vt:lpstr>Summary</vt:lpstr>
    </vt:vector>
  </TitlesOfParts>
  <Company>SU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IST 346 Chapter 6</dc:title>
  <dc:creator>SteveRieks</dc:creator>
  <cp:lastModifiedBy>Administrator</cp:lastModifiedBy>
  <cp:revision>42</cp:revision>
  <dcterms:created xsi:type="dcterms:W3CDTF">2009-10-04T14:50:13Z</dcterms:created>
  <dcterms:modified xsi:type="dcterms:W3CDTF">2026-09-10T00:43:39Z</dcterms:modified>
</cp:coreProperties>
</file>